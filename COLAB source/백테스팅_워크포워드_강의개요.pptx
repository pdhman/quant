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1280160" cy="128016"/>
          </a:xfrm>
          <a:prstGeom prst="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9FB4E8"/>
                </a:solidFill>
                <a:latin typeface="Malgun Gothic"/>
              </a:rPr>
              <a:t>KDT AI 퀀트 · Chapter 5-4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60704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</a:rPr>
              <a:t>백테스팅 &amp; 워크포워드 분석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0">
                <a:solidFill>
                  <a:srgbClr val="C9D4EC"/>
                </a:solidFill>
                <a:latin typeface="Malgun Gothic"/>
              </a:rPr>
              <a:t>전략을 '과거에 맞추는 것'을 넘어 '미래에 검증하는' 방법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63440"/>
            <a:ext cx="3291840" cy="640080"/>
          </a:xfrm>
          <a:prstGeom prst="roundRect">
            <a:avLst/>
          </a:prstGeom>
          <a:solidFill>
            <a:srgbClr val="2A3757"/>
          </a:solidFill>
          <a:ln w="19050">
            <a:solidFill>
              <a:srgbClr val="17A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추세필터 + RSI 전략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663440"/>
            <a:ext cx="3291840" cy="640080"/>
          </a:xfrm>
          <a:prstGeom prst="roundRect">
            <a:avLst/>
          </a:prstGeom>
          <a:solidFill>
            <a:srgbClr val="2A3757"/>
          </a:solidFill>
          <a:ln w="19050">
            <a:solidFill>
              <a:srgbClr val="E8A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과최적화 진단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663440"/>
            <a:ext cx="3291840" cy="640080"/>
          </a:xfrm>
          <a:prstGeom prst="roundRect">
            <a:avLst/>
          </a:prstGeom>
          <a:solidFill>
            <a:srgbClr val="2A3757"/>
          </a:solidFill>
          <a:ln w="19050">
            <a:solidFill>
              <a:srgbClr val="2E5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Walk-Forward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A99BC"/>
                </a:solidFill>
                <a:latin typeface="Malgun Gothic"/>
              </a:rPr>
              <a:t>삼성전자(005930) 일봉 · FinanceDataReader · Google Colab 실습 기반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9FB4E8"/>
                </a:solidFill>
                <a:latin typeface="Malgun Gothic"/>
              </a:rPr>
              <a:t>WHY BACKTESTING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백테스팅이란? 왜 하는가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310896"/>
            <a:ext cx="457200" cy="457200"/>
          </a:xfrm>
          <a:prstGeom prst="ellipse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242B38"/>
                </a:solidFill>
                <a:latin typeface="Malgun Gothic"/>
              </a:rPr>
              <a:t>과거 데이터에 매매 규칙을 적용해, </a:t>
            </a:r>
            <a:r>
              <a:rPr sz="1600" b="1">
                <a:solidFill>
                  <a:srgbClr val="2E5CE6"/>
                </a:solidFill>
                <a:latin typeface="Malgun Gothic"/>
              </a:rPr>
              <a:t>'이 전략을 그때 돌렸다면 어땠을까'</a:t>
            </a:r>
            <a:r>
              <a:rPr sz="1600" b="0">
                <a:solidFill>
                  <a:srgbClr val="242B38"/>
                </a:solidFill>
                <a:latin typeface="Malgun Gothic"/>
              </a:rPr>
              <a:t>를 시뮬레이션하는 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3611880" cy="18288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3611880" cy="76200"/>
          </a:xfrm>
          <a:prstGeom prst="rect">
            <a:avLst/>
          </a:prstGeom>
          <a:solidFill>
            <a:srgbClr val="17A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Malgun Gothic"/>
              </a:rPr>
              <a:t>가설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5A6372"/>
                </a:solidFill>
                <a:latin typeface="Malgun Gothic"/>
              </a:rPr>
              <a:t>감(感)이 아니라 데이터로 전략의 유효성을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2148840"/>
            <a:ext cx="3611880" cy="18288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2148840"/>
            <a:ext cx="3611880" cy="76200"/>
          </a:xfrm>
          <a:prstGeom prst="rect">
            <a:avLst/>
          </a:prstGeom>
          <a:solidFill>
            <a:srgbClr val="E8A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242316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Malgun Gothic"/>
              </a:rPr>
              <a:t>리스크 파악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971800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5A6372"/>
                </a:solidFill>
                <a:latin typeface="Malgun Gothic"/>
              </a:rPr>
              <a:t>수익뿐 아니라 최대낙폭(MDD)·변동성을 미리 측정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0998" y="2148840"/>
            <a:ext cx="3611880" cy="18288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0998" y="2148840"/>
            <a:ext cx="3611880" cy="76200"/>
          </a:xfrm>
          <a:prstGeom prst="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8" y="242316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Malgun Gothic"/>
              </a:rPr>
              <a:t>객관적 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8" y="2971800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5A6372"/>
                </a:solidFill>
                <a:latin typeface="Malgun Gothic"/>
              </a:rPr>
              <a:t>여러 전략·벤치마크(Buy&amp;Hold)를 같은 잣대로 평가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343400"/>
            <a:ext cx="11201400" cy="1417320"/>
          </a:xfrm>
          <a:prstGeom prst="roundRect">
            <a:avLst/>
          </a:prstGeom>
          <a:solidFill>
            <a:srgbClr val="FCF3E6"/>
          </a:solidFill>
          <a:ln w="15875">
            <a:solidFill>
              <a:srgbClr val="E8A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B97A0E"/>
                </a:solidFill>
                <a:latin typeface="Malgun Gothic"/>
              </a:rPr>
              <a:t>⚠  백테스팅의 함정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242B38"/>
                </a:solidFill>
                <a:latin typeface="Malgun Gothic"/>
              </a:rPr>
              <a:t>예쁜 우상향 곡선은 누구나 만들 수 있다. 파라미터를 과거에 맞추면(curve-fitting) 수익률은 얼마든지 올라간다.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242B38"/>
                </a:solidFill>
                <a:latin typeface="Malgun Gothic"/>
              </a:rPr>
              <a:t>→ 진짜 질문은 </a:t>
            </a:r>
            <a:r>
              <a:rPr sz="1350" b="1">
                <a:solidFill>
                  <a:srgbClr val="E04F4F"/>
                </a:solidFill>
                <a:latin typeface="Malgun Gothic"/>
              </a:rPr>
              <a:t>"이 전략이 미래에도 통하는가?"</a:t>
            </a:r>
            <a:r>
              <a:rPr sz="1350" b="0">
                <a:solidFill>
                  <a:srgbClr val="242B38"/>
                </a:solidFill>
                <a:latin typeface="Malgun Gothic"/>
              </a:rPr>
              <a:t>  이 챕터의 핵심 주제다.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Malgun Gothic"/>
              </a:rPr>
              <a:t>KDT AI 퀀트 · 백테스트/성과검증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Malgun Gothic"/>
              </a:rPr>
              <a:t>Chapter 5-4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9FB4E8"/>
                </a:solidFill>
                <a:latin typeface="Malgun Gothic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예제 전략: 200일선 추세필터 + RSI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310896"/>
            <a:ext cx="457200" cy="457200"/>
          </a:xfrm>
          <a:prstGeom prst="ellipse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242B38"/>
                </a:solidFill>
                <a:latin typeface="Malgun Gothic"/>
              </a:rPr>
              <a:t>아이디어: </a:t>
            </a:r>
            <a:r>
              <a:rPr sz="1500" b="0">
                <a:solidFill>
                  <a:srgbClr val="242B38"/>
                </a:solidFill>
                <a:latin typeface="Malgun Gothic"/>
              </a:rPr>
              <a:t>큰 추세는 위(상승)인데 단기적으로 눌린(과매도) 지점에서 반등을 노려 진입 → 과열에서 청산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2286000" cy="1051560"/>
          </a:xfrm>
          <a:prstGeom prst="roundRect">
            <a:avLst/>
          </a:prstGeom>
          <a:solidFill>
            <a:srgbClr val="17A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레짐 필터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965960"/>
            <a:ext cx="8778240" cy="105156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112264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Malgun Gothic"/>
              </a:rPr>
              <a:t>종가 &gt; 200일 이동평균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569464"/>
            <a:ext cx="8321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A6372"/>
                </a:solidFill>
                <a:latin typeface="Malgun Gothic"/>
              </a:rPr>
              <a:t>상승 추세일 때만 매수 허용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00400"/>
            <a:ext cx="2286000" cy="1051560"/>
          </a:xfrm>
          <a:prstGeom prst="round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진입 (Buy)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200400"/>
            <a:ext cx="8778240" cy="105156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3346704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Malgun Gothic"/>
              </a:rPr>
              <a:t>RSI가 30을 상향 돌파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803904"/>
            <a:ext cx="8321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A6372"/>
                </a:solidFill>
                <a:latin typeface="Malgun Gothic"/>
              </a:rPr>
              <a:t>전일 RSI&lt;30 → 당일 RSI≥30 (과매도 탈출)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34840"/>
            <a:ext cx="2286000" cy="1051560"/>
          </a:xfrm>
          <a:prstGeom prst="roundRect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청산 (Sell)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4434840"/>
            <a:ext cx="8778240" cy="105156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4581144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Malgun Gothic"/>
              </a:rPr>
              <a:t>RSI ≥ 80 도달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038344"/>
            <a:ext cx="8321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A6372"/>
                </a:solidFill>
                <a:latin typeface="Malgun Gothic"/>
              </a:rPr>
              <a:t>과열 구간에서 전량 매도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5A6372"/>
                </a:solidFill>
                <a:latin typeface="Malgun Gothic"/>
              </a:rPr>
              <a:t>체결 방식: </a:t>
            </a:r>
            <a:r>
              <a:rPr sz="1250" b="0">
                <a:solidFill>
                  <a:srgbClr val="5A6372"/>
                </a:solidFill>
                <a:latin typeface="Malgun Gothic"/>
              </a:rPr>
              <a:t>진입 시 가용현금 전액 투자(all-in) → 청산 시 전액 현금화. 슬리피지 0.4% 반영. Buy&amp;Hold와 동일 선상 비교.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Malgun Gothic"/>
              </a:rPr>
              <a:t>KDT AI 퀀트 · 백테스트/성과검증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Malgun Gothic"/>
              </a:rPr>
              <a:t>Chapter 5-4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9FB4E8"/>
                </a:solidFill>
                <a:latin typeface="Malgun Gothic"/>
              </a:rPr>
              <a:t>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백테스팅 엔진 구조: 하루씩 순회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310896"/>
            <a:ext cx="457200" cy="457200"/>
          </a:xfrm>
          <a:prstGeom prst="ellipse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2E5CE6"/>
                </a:solidFill>
                <a:latin typeface="Malgun Gothic"/>
              </a:rPr>
              <a:t>run_backtest()</a:t>
            </a:r>
            <a:r>
              <a:rPr sz="1500" b="0">
                <a:solidFill>
                  <a:srgbClr val="242B38"/>
                </a:solidFill>
                <a:latin typeface="Malgun Gothic"/>
              </a:rPr>
              <a:t> — 지표를 미리 계산하고, 날짜를 하루씩 돌며 매수/매도/평가를 반복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2670048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A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2670048" cy="76200"/>
          </a:xfrm>
          <a:prstGeom prst="rect">
            <a:avLst/>
          </a:prstGeom>
          <a:solidFill>
            <a:srgbClr val="17A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Malgun Gothic"/>
              </a:rPr>
              <a:t>1  지표 계산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34640"/>
            <a:ext cx="23317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372"/>
                </a:solidFill>
                <a:latin typeface="Malgun Gothic"/>
              </a:rPr>
              <a:t>200일 이평 · RSI 를 전체 구간 사전 계산
(rolling·ewm 은 과거만 참조 → 미래참조 없음)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0984" y="2011680"/>
            <a:ext cx="2670048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00984" y="2011680"/>
            <a:ext cx="2670048" cy="76200"/>
          </a:xfrm>
          <a:prstGeom prst="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228600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Malgun Gothic"/>
              </a:rPr>
              <a:t>2  매수 판단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834640"/>
            <a:ext cx="23317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372"/>
                </a:solidFill>
                <a:latin typeface="Malgun Gothic"/>
              </a:rPr>
              <a:t>현금 상태 &amp; 200일선 위 &amp; RSI 30 상향돌파
→ 전액 매수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8" y="2011680"/>
            <a:ext cx="2670048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4F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9048" y="2011680"/>
            <a:ext cx="2670048" cy="76200"/>
          </a:xfrm>
          <a:prstGeom prst="rect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228600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Malgun Gothic"/>
              </a:rPr>
              <a:t>3  매도 판단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834640"/>
            <a:ext cx="23317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372"/>
                </a:solidFill>
                <a:latin typeface="Malgun Gothic"/>
              </a:rPr>
              <a:t>보유 중 &amp; RSI ≥ 80
→ 전량 매도(슬리피지 반영)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97112" y="2011680"/>
            <a:ext cx="2670048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A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97112" y="2011680"/>
            <a:ext cx="2670048" cy="76200"/>
          </a:xfrm>
          <a:prstGeom prst="rect">
            <a:avLst/>
          </a:prstGeom>
          <a:solidFill>
            <a:srgbClr val="E8A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9992" y="228600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A44"/>
                </a:solidFill>
                <a:latin typeface="Malgun Gothic"/>
              </a:rPr>
              <a:t>4  일별 평가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2834640"/>
            <a:ext cx="23317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372"/>
                </a:solidFill>
                <a:latin typeface="Malgun Gothic"/>
              </a:rPr>
              <a:t>매일 (현금 + 보유주식 평가액) 을 기록
→ equity curve 완성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572000"/>
            <a:ext cx="11201400" cy="137160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709160"/>
            <a:ext cx="10698480" cy="1143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8EE0C8"/>
                </a:solidFill>
                <a:latin typeface="Malgun Gothic"/>
              </a:rPr>
              <a:t>for _, row in data.iterrows():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C9D4EC"/>
                </a:solidFill>
                <a:latin typeface="Malgun Gothic"/>
              </a:rPr>
              <a:t>     if flat and price &gt; ma200 and rsi_crossed_up(30):  buy_all()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C9D4EC"/>
                </a:solidFill>
                <a:latin typeface="Malgun Gothic"/>
              </a:rPr>
              <a:t>     elif holding and rsi &gt;= 80:                        sell_all()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9FB4E8"/>
                </a:solidFill>
                <a:latin typeface="Malgun Gothic"/>
              </a:rPr>
              <a:t>     equity.append(cash + shares * price)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Malgun Gothic"/>
              </a:rPr>
              <a:t>KDT AI 퀀트 · 백테스트/성과검증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Malgun Gothic"/>
              </a:rPr>
              <a:t>Chapter 5-4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9FB4E8"/>
                </a:solidFill>
                <a:latin typeface="Malgun Gothic"/>
              </a:rPr>
              <a:t>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무엇으로 평가하나: 핵심 성과지표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310896"/>
            <a:ext cx="457200" cy="457200"/>
          </a:xfrm>
          <a:prstGeom prst="ellipse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201400" cy="11430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88900" cy="1143000"/>
          </a:xfrm>
          <a:prstGeom prst="rect">
            <a:avLst/>
          </a:prstGeom>
          <a:solidFill>
            <a:srgbClr val="17A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63624"/>
            <a:ext cx="38404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F2A44"/>
                </a:solidFill>
                <a:latin typeface="Malgun Gothic"/>
              </a:rPr>
              <a:t>총수익률 / 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563624"/>
            <a:ext cx="4297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242B38"/>
                </a:solidFill>
                <a:latin typeface="Malgun Gothic"/>
              </a:rPr>
              <a:t>얼마나 벌었나 (연평균 복리수익률)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1709928"/>
            <a:ext cx="2194560" cy="548640"/>
          </a:xfrm>
          <a:prstGeom prst="roundRect">
            <a:avLst/>
          </a:prstGeom>
          <a:solidFill>
            <a:srgbClr val="17A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높을수록 good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43200"/>
            <a:ext cx="11201400" cy="11430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743200"/>
            <a:ext cx="88900" cy="1143000"/>
          </a:xfrm>
          <a:prstGeom prst="rect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89504"/>
            <a:ext cx="38404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F2A44"/>
                </a:solidFill>
                <a:latin typeface="Malgun Gothic"/>
              </a:rPr>
              <a:t>MDD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889504"/>
            <a:ext cx="4297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242B38"/>
                </a:solidFill>
                <a:latin typeface="Malgun Gothic"/>
              </a:rPr>
              <a:t>최대낙폭 — 고점 대비 최대 하락률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3035808"/>
            <a:ext cx="2194560" cy="548640"/>
          </a:xfrm>
          <a:prstGeom prst="roundRect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낮을수록(0에 가까울수록) good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69080"/>
            <a:ext cx="11201400" cy="11430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069080"/>
            <a:ext cx="88900" cy="1143000"/>
          </a:xfrm>
          <a:prstGeom prst="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15384"/>
            <a:ext cx="38404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F2A44"/>
                </a:solidFill>
                <a:latin typeface="Malgun Gothic"/>
              </a:rPr>
              <a:t>Sharpe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215384"/>
            <a:ext cx="4297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242B38"/>
                </a:solidFill>
                <a:latin typeface="Malgun Gothic"/>
              </a:rPr>
              <a:t>위험 1단위당 초과수익 (변동성 대비 효율)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4361688"/>
            <a:ext cx="2194560" cy="548640"/>
          </a:xfrm>
          <a:prstGeom prst="round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높을수록 good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32120"/>
            <a:ext cx="11201400" cy="777240"/>
          </a:xfrm>
          <a:prstGeom prst="roundRect">
            <a:avLst/>
          </a:prstGeom>
          <a:solidFill>
            <a:srgbClr val="E9F3F0"/>
          </a:solidFill>
          <a:ln w="15875">
            <a:solidFill>
              <a:srgbClr val="17A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50992"/>
            <a:ext cx="106984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17A28A"/>
                </a:solidFill>
                <a:latin typeface="Malgun Gothic"/>
              </a:rPr>
              <a:t>💡 수익률만 보지 말 것. </a:t>
            </a:r>
            <a:r>
              <a:rPr sz="1350" b="0">
                <a:solidFill>
                  <a:srgbClr val="242B38"/>
                </a:solidFill>
                <a:latin typeface="Malgun Gothic"/>
              </a:rPr>
              <a:t>CAGR이 같아도 MDD가 절반이면 훨씬 좋은 전략이다 — '얼마나 벌었나'와 '얼마나 아팠나'를 함께 본다.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Malgun Gothic"/>
              </a:rPr>
              <a:t>KDT AI 퀀트 · 백테스트/성과검증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Malgun Gothic"/>
              </a:rPr>
              <a:t>Chapter 5-4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9FB4E8"/>
                </a:solidFill>
                <a:latin typeface="Malgun Gothic"/>
              </a:rPr>
              <a:t>THE CORE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과최적화(Overfitting)와 IS / OOS 분리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310896"/>
            <a:ext cx="457200" cy="457200"/>
          </a:xfrm>
          <a:prstGeom prst="ellipse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242B38"/>
                </a:solidFill>
                <a:latin typeface="Malgun Gothic"/>
              </a:rPr>
              <a:t>전체 기간에서 가장 좋은 파라미터를 고르는 것 = </a:t>
            </a:r>
            <a:r>
              <a:rPr sz="1500" b="1">
                <a:solidFill>
                  <a:srgbClr val="E04F4F"/>
                </a:solidFill>
                <a:latin typeface="Malgun Gothic"/>
              </a:rPr>
              <a:t>시험 문제를 미리 보고 답을 외우는 것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A6372"/>
                </a:solidFill>
                <a:latin typeface="Malgun Gothic"/>
              </a:rPr>
              <a:t>과거의 우연(노이즈)에 맞춰진 전략은 미래에 무너진다. 해법의 출발점은 '데이터를 나누는 것'.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51760"/>
            <a:ext cx="5486400" cy="2468880"/>
          </a:xfrm>
          <a:prstGeom prst="roundRect">
            <a:avLst/>
          </a:prstGeom>
          <a:solidFill>
            <a:srgbClr val="EAF0FC"/>
          </a:solidFill>
          <a:ln w="19050">
            <a:solidFill>
              <a:srgbClr val="2E5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2E5CE6"/>
                </a:solidFill>
                <a:latin typeface="Malgun Gothic"/>
              </a:rPr>
              <a:t>In-Sample (IS)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493776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Malgun Gothic"/>
              </a:rPr>
              <a:t>학습 / 최적화 구간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242B38"/>
                </a:solidFill>
                <a:latin typeface="Malgun Gothic"/>
              </a:rPr>
              <a:t>• 파라미터를 '찾는' 데 사용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242B38"/>
                </a:solidFill>
                <a:latin typeface="Malgun Gothic"/>
              </a:rPr>
              <a:t>• 성과가 좋은 건 당연 (답을 보고 풂)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E04F4F"/>
                </a:solidFill>
                <a:latin typeface="Malgun Gothic"/>
              </a:rPr>
              <a:t>• 여기 성과로 전략을 판단하면 안 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51760"/>
            <a:ext cx="5486400" cy="2468880"/>
          </a:xfrm>
          <a:prstGeom prst="roundRect">
            <a:avLst/>
          </a:prstGeom>
          <a:solidFill>
            <a:srgbClr val="E9F3F0"/>
          </a:solidFill>
          <a:ln w="19050">
            <a:solidFill>
              <a:srgbClr val="17A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8346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7A28A"/>
                </a:solidFill>
                <a:latin typeface="Malgun Gothic"/>
              </a:rPr>
              <a:t>Out-of-Sample (OOS)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383280"/>
            <a:ext cx="493776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F2A44"/>
                </a:solidFill>
                <a:latin typeface="Malgun Gothic"/>
              </a:rPr>
              <a:t>검증 구간 (처음 보는 데이터)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242B38"/>
                </a:solidFill>
                <a:latin typeface="Malgun Gothic"/>
              </a:rPr>
              <a:t>• IS에서 찾은 파라미터를 '그대로' 적용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242B38"/>
                </a:solidFill>
                <a:latin typeface="Malgun Gothic"/>
              </a:rPr>
              <a:t>• 여기 성과가 </a:t>
            </a:r>
            <a:r>
              <a:rPr sz="1350" b="1">
                <a:solidFill>
                  <a:srgbClr val="17A28A"/>
                </a:solidFill>
                <a:latin typeface="Malgun Gothic"/>
              </a:rPr>
              <a:t>진짜 실력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242B38"/>
                </a:solidFill>
                <a:latin typeface="Malgun Gothic"/>
              </a:rPr>
              <a:t>• 무너지면 → 과최적화된 전략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440680"/>
            <a:ext cx="11201400" cy="8229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59552"/>
            <a:ext cx="106984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</a:rPr>
              <a:t>원칙:  파라미터는 IS에서 찾고,  평가는 반드시 OOS로 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Malgun Gothic"/>
              </a:rPr>
              <a:t>KDT AI 퀀트 · 백테스트/성과검증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Malgun Gothic"/>
              </a:rPr>
              <a:t>Chapter 5-4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9FB4E8"/>
                </a:solidFill>
                <a:latin typeface="Malgun Gothic"/>
              </a:rPr>
              <a:t>WALK-FORWARD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워크포워드 분석: 검증을 시간축으로 반복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310896"/>
            <a:ext cx="457200" cy="457200"/>
          </a:xfrm>
          <a:prstGeom prst="ellipse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242B38"/>
                </a:solidFill>
                <a:latin typeface="Malgun Gothic"/>
              </a:rPr>
              <a:t>IS/OOS를 딱 한 번 나누면 '운'의 영향이 크다 → </a:t>
            </a:r>
            <a:r>
              <a:rPr sz="1500" b="1">
                <a:solidFill>
                  <a:srgbClr val="2E5CE6"/>
                </a:solidFill>
                <a:latin typeface="Malgun Gothic"/>
              </a:rPr>
              <a:t>창을 앞으로 밀며 IS→OOS 검증을 여러 번 반복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48840"/>
            <a:ext cx="3840480" cy="457200"/>
          </a:xfrm>
          <a:prstGeom prst="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IS #1 (최적화)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2148840"/>
            <a:ext cx="1463040" cy="457200"/>
          </a:xfrm>
          <a:prstGeom prst="rect">
            <a:avLst/>
          </a:prstGeom>
          <a:solidFill>
            <a:srgbClr val="17A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OOS#1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715768"/>
            <a:ext cx="3840480" cy="457200"/>
          </a:xfrm>
          <a:prstGeom prst="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IS #2 (최적화)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715768"/>
            <a:ext cx="1463040" cy="457200"/>
          </a:xfrm>
          <a:prstGeom prst="rect">
            <a:avLst/>
          </a:prstGeom>
          <a:solidFill>
            <a:srgbClr val="17A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OOS#2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3282696"/>
            <a:ext cx="3840480" cy="457200"/>
          </a:xfrm>
          <a:prstGeom prst="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IS #3 (최적화)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3282696"/>
            <a:ext cx="1463040" cy="457200"/>
          </a:xfrm>
          <a:prstGeom prst="rect">
            <a:avLst/>
          </a:prstGeom>
          <a:solidFill>
            <a:srgbClr val="17A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OOS#3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3849624"/>
            <a:ext cx="3840480" cy="457200"/>
          </a:xfrm>
          <a:prstGeom prst="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IS #4 (최적화)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3849624"/>
            <a:ext cx="1463040" cy="457200"/>
          </a:xfrm>
          <a:prstGeom prst="rect">
            <a:avLst/>
          </a:prstGeom>
          <a:solidFill>
            <a:srgbClr val="17A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OOS#4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5A6372"/>
                </a:solidFill>
                <a:latin typeface="Malgun Gothic"/>
              </a:rPr>
              <a:t>→ 시간 (오른쪽으로 진행)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83480"/>
            <a:ext cx="10424160" cy="1234440"/>
          </a:xfrm>
          <a:prstGeom prst="roundRect">
            <a:avLst/>
          </a:prstGeom>
          <a:solidFill>
            <a:srgbClr val="E9F3F0"/>
          </a:solidFill>
          <a:ln w="19050">
            <a:solidFill>
              <a:srgbClr val="17A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120640"/>
            <a:ext cx="996696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17A28A"/>
                </a:solidFill>
                <a:latin typeface="Malgun Gothic"/>
              </a:rPr>
              <a:t>모든 OOS 구간을 이어붙인 곡선 = 실전에 가장 가까운 성과 추정치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42B38"/>
                </a:solidFill>
                <a:latin typeface="Malgun Gothic"/>
              </a:rPr>
              <a:t>각 단계: ① IS에서 최적 파라미터 탐색 → ② 바로 뒤 OOS에 적용 → ③ 창을 앞으로 밀어 반복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Malgun Gothic"/>
              </a:rPr>
              <a:t>KDT AI 퀀트 · 백테스트/성과검증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Malgun Gothic"/>
              </a:rPr>
              <a:t>Chapter 5-4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9FB4E8"/>
                </a:solidFill>
                <a:latin typeface="Malgun Gothic"/>
              </a:rPr>
              <a:t>THE PUNCHLINE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전체최적화 vs 워크포워드 = 낙관 편향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310896"/>
            <a:ext cx="457200" cy="457200"/>
          </a:xfrm>
          <a:prstGeom prst="ellipse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86400" cy="2331720"/>
          </a:xfrm>
          <a:prstGeom prst="roundRect">
            <a:avLst/>
          </a:prstGeom>
          <a:solidFill>
            <a:srgbClr val="FCECEC"/>
          </a:solidFill>
          <a:ln w="19050">
            <a:solidFill>
              <a:srgbClr val="E04F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E04F4F"/>
                </a:solidFill>
                <a:latin typeface="Malgun Gothic"/>
              </a:rPr>
              <a:t>(A) 전체 기간 최적화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493776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242B38"/>
                </a:solidFill>
                <a:latin typeface="Malgun Gothic"/>
              </a:rPr>
              <a:t>전체 데이터에서 최고 파라미터 하나 선택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E04F4F"/>
                </a:solidFill>
                <a:latin typeface="Malgun Gothic"/>
              </a:rPr>
              <a:t>= 미래를 미리 아는 성과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242B38"/>
                </a:solidFill>
                <a:latin typeface="Malgun Gothic"/>
              </a:rPr>
              <a:t>→ 화려하지만 실전에선 </a:t>
            </a:r>
            <a:r>
              <a:rPr sz="1350" b="1">
                <a:solidFill>
                  <a:srgbClr val="E04F4F"/>
                </a:solidFill>
                <a:latin typeface="Malgun Gothic"/>
              </a:rPr>
              <a:t>불가능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5A6372"/>
                </a:solidFill>
                <a:latin typeface="Malgun Gothic"/>
              </a:rPr>
              <a:t>(백테스트 낙관 편향의 원천)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2331720"/>
          </a:xfrm>
          <a:prstGeom prst="roundRect">
            <a:avLst/>
          </a:prstGeom>
          <a:solidFill>
            <a:srgbClr val="E9F3F0"/>
          </a:solidFill>
          <a:ln w="19050">
            <a:solidFill>
              <a:srgbClr val="17A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7A28A"/>
                </a:solidFill>
                <a:latin typeface="Malgun Gothic"/>
              </a:rPr>
              <a:t>(B) 워크포워드 OOS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93776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242B38"/>
                </a:solidFill>
                <a:latin typeface="Malgun Gothic"/>
              </a:rPr>
              <a:t>매 시점 과거만 보고 파라미터 결정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17A28A"/>
                </a:solidFill>
                <a:latin typeface="Malgun Gothic"/>
              </a:rPr>
              <a:t>= 실전에서 실제로 얻었을 성과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242B38"/>
                </a:solidFill>
                <a:latin typeface="Malgun Gothic"/>
              </a:rPr>
              <a:t>→ 수수하지만 </a:t>
            </a:r>
            <a:r>
              <a:rPr sz="1350" b="1">
                <a:solidFill>
                  <a:srgbClr val="17A28A"/>
                </a:solidFill>
                <a:latin typeface="Malgun Gothic"/>
              </a:rPr>
              <a:t>정직한 추정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5A6372"/>
                </a:solidFill>
                <a:latin typeface="Malgun Gothic"/>
              </a:rPr>
              <a:t>(배포 후 우리가 만나는 현실)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77639"/>
            <a:ext cx="11201400" cy="10515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106984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두 곡선의 격차 = 백테스트가 부풀린 '착시'의 크기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C9D4EC"/>
                </a:solidFill>
                <a:latin typeface="Malgun Gothic"/>
              </a:rPr>
              <a:t>(A)가 (B)보다 월등히 좋다면, 그 차이는 실력이 아니라 미래를 훔쳐본 대가다.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57800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242B38"/>
                </a:solidFill>
                <a:latin typeface="Malgun Gothic"/>
              </a:rPr>
              <a:t>실습 예시(합성 데이터):  IS Sharpe </a:t>
            </a:r>
            <a:r>
              <a:rPr sz="1500" b="1">
                <a:solidFill>
                  <a:srgbClr val="E04F4F"/>
                </a:solidFill>
                <a:latin typeface="Malgun Gothic"/>
              </a:rPr>
              <a:t>0.81</a:t>
            </a:r>
            <a:r>
              <a:rPr sz="1350" b="1">
                <a:solidFill>
                  <a:srgbClr val="242B38"/>
                </a:solidFill>
                <a:latin typeface="Malgun Gothic"/>
              </a:rPr>
              <a:t>  →  워크포워드 OOS Sharpe </a:t>
            </a:r>
            <a:r>
              <a:rPr sz="1500" b="1">
                <a:solidFill>
                  <a:srgbClr val="17A28A"/>
                </a:solidFill>
                <a:latin typeface="Malgun Gothic"/>
              </a:rPr>
              <a:t>0.15</a:t>
            </a:r>
            <a:r>
              <a:rPr sz="1300" b="0">
                <a:solidFill>
                  <a:srgbClr val="5A6372"/>
                </a:solidFill>
                <a:latin typeface="Malgun Gothic"/>
              </a:rPr>
              <a:t>   ← 과최적화가 이렇게 드러난다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Malgun Gothic"/>
              </a:rPr>
              <a:t>KDT AI 퀀트 · 백테스트/성과검증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Malgun Gothic"/>
              </a:rPr>
              <a:t>Chapter 5-4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9FB4E8"/>
                </a:solidFill>
                <a:latin typeface="Malgun Gothic"/>
              </a:rPr>
              <a:t>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'쓸 만한 전략'의 3가지 조건</a:t>
            </a:r>
          </a:p>
        </p:txBody>
      </p:sp>
      <p:sp>
        <p:nvSpPr>
          <p:cNvPr id="6" name="Oval 5"/>
          <p:cNvSpPr/>
          <p:nvPr/>
        </p:nvSpPr>
        <p:spPr>
          <a:xfrm>
            <a:off x="11292840" y="310896"/>
            <a:ext cx="457200" cy="457200"/>
          </a:xfrm>
          <a:prstGeom prst="ellipse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11201400" cy="13716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88900" cy="1371600"/>
          </a:xfrm>
          <a:prstGeom prst="rect">
            <a:avLst/>
          </a:prstGeom>
          <a:solidFill>
            <a:srgbClr val="17A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424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Malgun Gothic"/>
              </a:rPr>
              <a:t>① OOS에서 살아남는가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5A6372"/>
                </a:solidFill>
                <a:latin typeface="Malgun Gothic"/>
              </a:rPr>
              <a:t>IS에서만 좋은 전략은 널렸다. Out-of-Sample·워크포워드에서 성과가 유지되어야 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99232"/>
            <a:ext cx="11201400" cy="13716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99232"/>
            <a:ext cx="88900" cy="1371600"/>
          </a:xfrm>
          <a:prstGeom prst="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82112"/>
            <a:ext cx="10424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Malgun Gothic"/>
              </a:rPr>
              <a:t>② 비용 후에도 이기는가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12464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5A6372"/>
                </a:solidFill>
                <a:latin typeface="Malgun Gothic"/>
              </a:rPr>
              <a:t>슬리피지·수수료·세금을 반영하고도 벤치마크(Buy&amp;Hold)를 이겨야 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35424"/>
            <a:ext cx="11201400" cy="13716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535424"/>
            <a:ext cx="88900" cy="1371600"/>
          </a:xfrm>
          <a:prstGeom prst="rect">
            <a:avLst/>
          </a:prstGeom>
          <a:solidFill>
            <a:srgbClr val="E8A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18304"/>
            <a:ext cx="10424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Malgun Gothic"/>
              </a:rPr>
              <a:t>③ 파라미터가 안정적인가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48656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5A6372"/>
                </a:solidFill>
                <a:latin typeface="Malgun Gothic"/>
              </a:rPr>
              <a:t>특정 '마법의 숫자'가 아니라, 넓은 파라미터 구간에서 고르게 잘 되어야 견고하다.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A6372"/>
                </a:solidFill>
                <a:latin typeface="Malgun Gothic"/>
              </a:rPr>
              <a:t>+ 파라미터 안정성은 워크포워드 fold별 선택값의 변동으로 확인한다 (요동치면 위험 신호).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Malgun Gothic"/>
              </a:rPr>
              <a:t>KDT AI 퀀트 · 백테스트/성과검증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419088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372"/>
                </a:solidFill>
                <a:latin typeface="Malgun Gothic"/>
              </a:rPr>
              <a:t>Chapter 5-4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1280160" cy="128016"/>
          </a:xfrm>
          <a:prstGeom prst="rect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핵심 요약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984248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0">
                <a:solidFill>
                  <a:srgbClr val="E4EAF6"/>
                </a:solidFill>
                <a:latin typeface="Malgun Gothic"/>
              </a:rPr>
              <a:t>백테스팅 코드는 함수화해야 파라미터 실험·검증이 가능하다.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715768"/>
            <a:ext cx="502920" cy="502920"/>
          </a:xfrm>
          <a:prstGeom prst="ellipse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34056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0">
                <a:solidFill>
                  <a:srgbClr val="E4EAF6"/>
                </a:solidFill>
                <a:latin typeface="Malgun Gothic"/>
              </a:rPr>
              <a:t>예쁜 전체기간 수익곡선은 과최적화의 산물일 수 있다 — 반드시 의심하라.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65576"/>
            <a:ext cx="502920" cy="502920"/>
          </a:xfrm>
          <a:prstGeom prst="ellipse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483864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0">
                <a:solidFill>
                  <a:srgbClr val="E4EAF6"/>
                </a:solidFill>
                <a:latin typeface="Malgun Gothic"/>
              </a:rPr>
              <a:t>파라미터는 In-Sample에서 찾고, 평가는 Out-of-Sample로 한다.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215384"/>
            <a:ext cx="502920" cy="502920"/>
          </a:xfrm>
          <a:prstGeom prst="ellipse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233672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0">
                <a:solidFill>
                  <a:srgbClr val="E4EAF6"/>
                </a:solidFill>
                <a:latin typeface="Malgun Gothic"/>
              </a:rPr>
              <a:t>워크포워드로 이어붙인 OOS 곡선이 실전에 가장 가까운 성과다.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965192"/>
            <a:ext cx="502920" cy="502920"/>
          </a:xfrm>
          <a:prstGeom prst="ellipse">
            <a:avLst/>
          </a:prstGeom>
          <a:solidFill>
            <a:srgbClr val="2E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983480"/>
            <a:ext cx="100584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0">
                <a:solidFill>
                  <a:srgbClr val="E4EAF6"/>
                </a:solidFill>
                <a:latin typeface="Malgun Gothic"/>
              </a:rPr>
              <a:t>좋은 전략 = OOS 생존 + 비용 후 초과수익 + 파라미터 안정성.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806440"/>
            <a:ext cx="10515600" cy="777240"/>
          </a:xfrm>
          <a:prstGeom prst="roundRect">
            <a:avLst/>
          </a:prstGeom>
          <a:solidFill>
            <a:srgbClr val="2A3757"/>
          </a:solidFill>
          <a:ln w="19050">
            <a:solidFill>
              <a:srgbClr val="17A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925312"/>
            <a:ext cx="100584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9EE7D3"/>
                </a:solidFill>
                <a:latin typeface="Malgun Gothic"/>
              </a:rPr>
              <a:t>"In-Sample에서 잘 되는 전략은 널렸다. Out-of-Sample에서 살아남는 전략만이 돈을 번다."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