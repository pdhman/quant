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88920"/>
            <a:ext cx="12191695" cy="45720"/>
          </a:xfrm>
          <a:prstGeom prst="rect">
            <a:avLst/>
          </a:prstGeom>
          <a:solidFill>
            <a:srgbClr val="089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89981"/>
                </a:solidFill>
                <a:latin typeface="맑은 고딕"/>
              </a:rPr>
              <a:t>TradingView 전략 · 설명 자료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맑은 고딕"/>
              </a:rPr>
              <a:t>Adaptive Volatility Channel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400" b="0">
                <a:solidFill>
                  <a:srgbClr val="B2B5BE"/>
                </a:solidFill>
                <a:latin typeface="맑은 고딕"/>
              </a:rPr>
              <a:t>변동성 적응형 채널 &amp; 국면 전환 전략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84048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0">
                <a:solidFill>
                  <a:srgbClr val="B2B5BE"/>
                </a:solidFill>
                <a:latin typeface="맑은 고딕"/>
              </a:rPr>
              <a:t>블랙박스였던 </a:t>
            </a:r>
            <a:r>
              <a:rPr sz="1800" b="1">
                <a:solidFill>
                  <a:srgbClr val="FF9B3D"/>
                </a:solidFill>
                <a:latin typeface="맑은 고딕"/>
              </a:rPr>
              <a:t>VOLCANO</a:t>
            </a:r>
            <a:r>
              <a:rPr sz="1800" b="0">
                <a:solidFill>
                  <a:srgbClr val="B2B5BE"/>
                </a:solidFill>
                <a:latin typeface="맑은 고딕"/>
              </a:rPr>
              <a:t>를 </a:t>
            </a:r>
            <a:r>
              <a:rPr sz="1800" b="1">
                <a:solidFill>
                  <a:srgbClr val="FFFFFF"/>
                </a:solidFill>
                <a:latin typeface="맑은 고딕"/>
              </a:rPr>
              <a:t>‘설명 가능한’ 표준 지표</a:t>
            </a:r>
            <a:r>
              <a:rPr sz="1800" b="0">
                <a:solidFill>
                  <a:srgbClr val="B2B5BE"/>
                </a:solidFill>
                <a:latin typeface="맑은 고딕"/>
              </a:rPr>
              <a:t>로 재구성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B2B5BE"/>
                </a:solidFill>
                <a:latin typeface="맑은 고딕"/>
              </a:rPr>
              <a:t>적응형 돈치안 채널 · 돌파/회귀 국면 자동 전환 · 분할+모드별 청산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28016" cy="868680"/>
          </a:xfrm>
          <a:prstGeom prst="rect">
            <a:avLst/>
          </a:prstGeom>
          <a:solidFill>
            <a:srgbClr val="FF9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9B3D"/>
                </a:solidFill>
                <a:latin typeface="맑은 고딕"/>
              </a:rPr>
              <a:t>WHY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49808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맑은 고딕"/>
              </a:rPr>
              <a:t>왜 이 인디케이터를 만들었나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45920"/>
            <a:ext cx="5212080" cy="4480560"/>
          </a:xfrm>
          <a:prstGeom prst="rect">
            <a:avLst/>
          </a:prstGeom>
          <a:solidFill>
            <a:srgbClr val="1E2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F9B3D"/>
                </a:solidFill>
                <a:latin typeface="맑은 고딕"/>
              </a:rPr>
              <a:t>문제 — 원본 VOLCANO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331720"/>
            <a:ext cx="466344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50" b="0">
                <a:solidFill>
                  <a:srgbClr val="FFFFFF"/>
                </a:solidFill>
                <a:latin typeface="맑은 고딕"/>
              </a:rPr>
              <a:t>• 핵심 아이디어는 좋은데 수식이 난해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50" b="0">
                <a:solidFill>
                  <a:srgbClr val="FFFFFF"/>
                </a:solidFill>
                <a:latin typeface="맑은 고딕"/>
              </a:rPr>
              <a:t>• ahn_tr = (log(봉수익/주간레인지)+9)×10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50" b="0">
                <a:solidFill>
                  <a:srgbClr val="FFFFFF"/>
                </a:solidFill>
                <a:latin typeface="맑은 고딕"/>
              </a:rPr>
              <a:t>    → +9, ×10 같은 임의 상수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50" b="0">
                <a:solidFill>
                  <a:srgbClr val="FFFFFF"/>
                </a:solidFill>
                <a:latin typeface="맑은 고딕"/>
              </a:rPr>
              <a:t>• 룩백기간 = floor(그 점수)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50" b="0">
                <a:solidFill>
                  <a:srgbClr val="FFFFFF"/>
                </a:solidFill>
                <a:latin typeface="맑은 고딕"/>
              </a:rPr>
              <a:t>    → 점수와 기간은 차원이 다른데 우연히 맞음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50" b="0">
                <a:solidFill>
                  <a:srgbClr val="FFFFFF"/>
                </a:solidFill>
                <a:latin typeface="맑은 고딕"/>
              </a:rPr>
              <a:t>• e⁴, √2, √4 로 만든 청산 레벨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50" b="0">
                <a:solidFill>
                  <a:srgbClr val="FFFFFF"/>
                </a:solidFill>
                <a:latin typeface="맑은 고딕"/>
              </a:rPr>
              <a:t>    → 근거 없이 튜닝된 숫자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50" b="0">
                <a:solidFill>
                  <a:srgbClr val="FFFFFF"/>
                </a:solidFill>
                <a:latin typeface="맑은 고딕"/>
              </a:rPr>
              <a:t>• 결과: 왜 사고파는지 설명 불가 (블랙박스)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645920"/>
            <a:ext cx="5029200" cy="4480560"/>
          </a:xfrm>
          <a:prstGeom prst="rect">
            <a:avLst/>
          </a:prstGeom>
          <a:solidFill>
            <a:srgbClr val="1E2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828800"/>
            <a:ext cx="4480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089981"/>
                </a:solidFill>
                <a:latin typeface="맑은 고딕"/>
              </a:rPr>
              <a:t>해결 — Adaptive Volatility Channel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331720"/>
            <a:ext cx="44805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50" b="0">
                <a:solidFill>
                  <a:srgbClr val="FFFFFF"/>
                </a:solidFill>
                <a:latin typeface="맑은 고딕"/>
              </a:rPr>
              <a:t>• 모든 계산을 표준 지표로 대체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50" b="0">
                <a:solidFill>
                  <a:srgbClr val="FFFFFF"/>
                </a:solidFill>
                <a:latin typeface="맑은 고딕"/>
              </a:rPr>
              <a:t>• 파라미터가 전부 직관 단위: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50" b="0">
                <a:solidFill>
                  <a:srgbClr val="FFFFFF"/>
                </a:solidFill>
                <a:latin typeface="맑은 고딕"/>
              </a:rPr>
              <a:t>    ‘ATR 몇 배 / 백분위 몇 % / 몇 봉’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50" b="0">
                <a:solidFill>
                  <a:srgbClr val="FFFFFF"/>
                </a:solidFill>
                <a:latin typeface="맑은 고딕"/>
              </a:rPr>
              <a:t>• 차트에서 눈으로 검증 가능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50" b="0">
                <a:solidFill>
                  <a:srgbClr val="FFFFFF"/>
                </a:solidFill>
                <a:latin typeface="맑은 고딕"/>
              </a:rPr>
              <a:t>• 그리드서치로 민감도 분석 가능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50" b="0">
                <a:solidFill>
                  <a:srgbClr val="FFFFFF"/>
                </a:solidFill>
                <a:latin typeface="맑은 고딕"/>
              </a:rPr>
              <a:t>• 원본의 ‘의도’는 유지, ‘포장지’만 제거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50" b="0">
                <a:solidFill>
                  <a:srgbClr val="FFFFFF"/>
                </a:solidFill>
                <a:latin typeface="맑은 고딕"/>
              </a:rPr>
              <a:t/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50" b="0">
                <a:solidFill>
                  <a:srgbClr val="FFFFFF"/>
                </a:solidFill>
                <a:latin typeface="맑은 고딕"/>
              </a:rPr>
              <a:t>→ 신뢰할 수 있고 개선할 수 있는 전략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28016" cy="868680"/>
          </a:xfrm>
          <a:prstGeom prst="rect">
            <a:avLst/>
          </a:prstGeom>
          <a:solidFill>
            <a:srgbClr val="5B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5B8DFF"/>
                </a:solidFill>
                <a:latin typeface="맑은 고딕"/>
              </a:rPr>
              <a:t>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49808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맑은 고딕"/>
              </a:rPr>
              <a:t>핵심 아이디어 3가지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828800"/>
            <a:ext cx="3429000" cy="4023360"/>
          </a:xfrm>
          <a:prstGeom prst="rect">
            <a:avLst/>
          </a:prstGeom>
          <a:solidFill>
            <a:srgbClr val="1E2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828800"/>
            <a:ext cx="3429000" cy="109728"/>
          </a:xfrm>
          <a:prstGeom prst="rect">
            <a:avLst/>
          </a:prstGeom>
          <a:solidFill>
            <a:srgbClr val="089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48840"/>
            <a:ext cx="2880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400" b="1">
                <a:solidFill>
                  <a:srgbClr val="089981"/>
                </a:solidFill>
                <a:latin typeface="맑은 고딕"/>
              </a:rPr>
              <a:t>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154680"/>
            <a:ext cx="2880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100" b="1">
                <a:solidFill>
                  <a:srgbClr val="FFFFFF"/>
                </a:solidFill>
                <a:latin typeface="맑은 고딕"/>
              </a:rPr>
              <a:t>적응형 채널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794760"/>
            <a:ext cx="28803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B2B5BE"/>
                </a:solidFill>
                <a:latin typeface="맑은 고딕"/>
              </a:rPr>
              <a:t>변동성이 크면 채널을 넓게, 작으면 좁게 자동 조절.
노이즈에 덜 뚫리고 진짜 움직임만 포착.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16552" y="1828800"/>
            <a:ext cx="3429000" cy="4023360"/>
          </a:xfrm>
          <a:prstGeom prst="rect">
            <a:avLst/>
          </a:prstGeom>
          <a:solidFill>
            <a:srgbClr val="1E2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16552" y="1828800"/>
            <a:ext cx="3429000" cy="109728"/>
          </a:xfrm>
          <a:prstGeom prst="rect">
            <a:avLst/>
          </a:prstGeom>
          <a:solidFill>
            <a:srgbClr val="FF9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90872" y="2148840"/>
            <a:ext cx="2880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400" b="1">
                <a:solidFill>
                  <a:srgbClr val="FF9B3D"/>
                </a:solidFill>
                <a:latin typeface="맑은 고딕"/>
              </a:rPr>
              <a:t>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90872" y="3154680"/>
            <a:ext cx="2880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100" b="1">
                <a:solidFill>
                  <a:srgbClr val="FFFFFF"/>
                </a:solidFill>
                <a:latin typeface="맑은 고딕"/>
              </a:rPr>
              <a:t>국면 자동 전환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90872" y="3794760"/>
            <a:ext cx="28803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B2B5BE"/>
                </a:solidFill>
                <a:latin typeface="맑은 고딕"/>
              </a:rPr>
              <a:t>변동성 백분위로 시장을 판단.
추세장 → 돌파 추종 / 박스권 → 평균 회귀.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10144" y="1828800"/>
            <a:ext cx="3429000" cy="4023360"/>
          </a:xfrm>
          <a:prstGeom prst="rect">
            <a:avLst/>
          </a:prstGeom>
          <a:solidFill>
            <a:srgbClr val="1E2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10144" y="1828800"/>
            <a:ext cx="3429000" cy="109728"/>
          </a:xfrm>
          <a:prstGeom prst="rect">
            <a:avLst/>
          </a:prstGeom>
          <a:solidFill>
            <a:srgbClr val="26C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84464" y="2148840"/>
            <a:ext cx="2880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400" b="1">
                <a:solidFill>
                  <a:srgbClr val="26C6DA"/>
                </a:solidFill>
                <a:latin typeface="맑은 고딕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4464" y="3154680"/>
            <a:ext cx="2880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100" b="1">
                <a:solidFill>
                  <a:srgbClr val="FFFFFF"/>
                </a:solidFill>
                <a:latin typeface="맑은 고딕"/>
              </a:rPr>
              <a:t>세분화된 청산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84464" y="3794760"/>
            <a:ext cx="28803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B2B5BE"/>
                </a:solidFill>
                <a:latin typeface="맑은 고딕"/>
              </a:rPr>
              <a:t>1R에서 분할 익절 + 본전 이동.
회귀는 짧게, 돌파는 트레일링으로 길게.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28016" cy="868680"/>
          </a:xfrm>
          <a:prstGeom prst="rect">
            <a:avLst/>
          </a:prstGeom>
          <a:solidFill>
            <a:srgbClr val="089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89981"/>
                </a:solidFill>
                <a:latin typeface="맑은 고딕"/>
              </a:rPr>
              <a:t>FORMULA 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49808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맑은 고딕"/>
              </a:rPr>
              <a:t>변동성 측정 — 지금이 평소보다 얼마나 출렁이나?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737360"/>
            <a:ext cx="10515600" cy="566928"/>
          </a:xfrm>
          <a:prstGeom prst="rect">
            <a:avLst/>
          </a:prstGeom>
          <a:solidFill>
            <a:srgbClr val="0D1018"/>
          </a:solidFill>
          <a:ln w="12700">
            <a:solidFill>
              <a:srgbClr val="4346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101498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26C6DA"/>
                </a:solidFill>
                <a:latin typeface="Consolas"/>
              </a:rPr>
              <a:t>변동성비율 = ATR(5) / ATR(60)      백분위 = percentrank(변동성비율, 240)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603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089981"/>
                </a:solidFill>
                <a:latin typeface="맑은 고딕"/>
              </a:rPr>
              <a:t>쉽게 말하면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01752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600" b="1">
                <a:solidFill>
                  <a:srgbClr val="26C6DA"/>
                </a:solidFill>
                <a:latin typeface="맑은 고딕"/>
              </a:rPr>
              <a:t>• ATR(5)</a:t>
            </a:r>
            <a:r>
              <a:rPr sz="1600" b="0">
                <a:solidFill>
                  <a:srgbClr val="FFFFFF"/>
                </a:solidFill>
                <a:latin typeface="맑은 고딕"/>
              </a:rPr>
              <a:t> = 최근 5봉의 변동폭(요즘 변동성), </a:t>
            </a:r>
            <a:r>
              <a:rPr sz="1600" b="1">
                <a:solidFill>
                  <a:srgbClr val="26C6DA"/>
                </a:solidFill>
                <a:latin typeface="맑은 고딕"/>
              </a:rPr>
              <a:t>ATR(60)</a:t>
            </a:r>
            <a:r>
              <a:rPr sz="1600" b="0">
                <a:solidFill>
                  <a:srgbClr val="FFFFFF"/>
                </a:solidFill>
                <a:latin typeface="맑은 고딕"/>
              </a:rPr>
              <a:t> = 60봉 평균(평소 변동성)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600" b="1">
                <a:solidFill>
                  <a:srgbClr val="FFD54F"/>
                </a:solidFill>
                <a:latin typeface="맑은 고딕"/>
              </a:rPr>
              <a:t>• 비율 &gt; 1</a:t>
            </a:r>
            <a:r>
              <a:rPr sz="1600" b="0">
                <a:solidFill>
                  <a:srgbClr val="FFFFFF"/>
                </a:solidFill>
                <a:latin typeface="맑은 고딕"/>
              </a:rPr>
              <a:t> → 요즘이 평소보다 더 출렁인다는 뜻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600" b="1">
                <a:solidFill>
                  <a:srgbClr val="FFD54F"/>
                </a:solidFill>
                <a:latin typeface="맑은 고딕"/>
              </a:rPr>
              <a:t>• 백분위(0~100)</a:t>
            </a:r>
            <a:r>
              <a:rPr sz="1600" b="0">
                <a:solidFill>
                  <a:srgbClr val="FFFFFF"/>
                </a:solidFill>
                <a:latin typeface="맑은 고딕"/>
              </a:rPr>
              <a:t> = 그 비율이 최근 240봉 중 상위 몇 %인가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600" b="0">
                <a:solidFill>
                  <a:srgbClr val="B2B5BE"/>
                </a:solidFill>
                <a:latin typeface="맑은 고딕"/>
              </a:rPr>
              <a:t>   예) 백분위 80 → 최근 240봉 중 ‘변동성 상위 20%’ 구간에 있다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5212080"/>
            <a:ext cx="10515600" cy="914400"/>
          </a:xfrm>
          <a:prstGeom prst="rect">
            <a:avLst/>
          </a:prstGeom>
          <a:solidFill>
            <a:srgbClr val="2A1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5303520"/>
            <a:ext cx="10058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FF9B3D"/>
                </a:solidFill>
                <a:latin typeface="맑은 고딕"/>
              </a:rPr>
              <a:t>원본 대비  </a:t>
            </a:r>
            <a:r>
              <a:rPr sz="1450" b="0">
                <a:solidFill>
                  <a:srgbClr val="B2B5BE"/>
                </a:solidFill>
                <a:latin typeface="맑은 고딕"/>
              </a:rPr>
              <a:t>(log(봉수익/주간레인지)+9)×10  →  ATR 비율의 백분위. 같은 ‘변동성 강도’를 임의 상수 없이 표준 지표로.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28016" cy="868680"/>
          </a:xfrm>
          <a:prstGeom prst="rect">
            <a:avLst/>
          </a:prstGeom>
          <a:solidFill>
            <a:srgbClr val="089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89981"/>
                </a:solidFill>
                <a:latin typeface="맑은 고딕"/>
              </a:rPr>
              <a:t>FORMULA 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49808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맑은 고딕"/>
              </a:rPr>
              <a:t>적응형 룩백 &amp; 돈치안 채널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737360"/>
            <a:ext cx="10515600" cy="566928"/>
          </a:xfrm>
          <a:prstGeom prst="rect">
            <a:avLst/>
          </a:prstGeom>
          <a:solidFill>
            <a:srgbClr val="0D1018"/>
          </a:solidFill>
          <a:ln w="12700">
            <a:solidFill>
              <a:srgbClr val="4346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101498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26C6DA"/>
                </a:solidFill>
                <a:latin typeface="Consolas"/>
              </a:rPr>
              <a:t>룩백 = 20 + (60-20) × 백분위/100      채널상단/하단 = highest(high)/lowest(low, 룩백)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603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089981"/>
                </a:solidFill>
                <a:latin typeface="맑은 고딕"/>
              </a:rPr>
              <a:t>쉽게 말하면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017520"/>
            <a:ext cx="1051560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26C6DA"/>
                </a:solidFill>
                <a:latin typeface="맑은 고딕"/>
              </a:rPr>
              <a:t>• 돈치안 채널</a:t>
            </a:r>
            <a:r>
              <a:rPr sz="1600" b="0">
                <a:solidFill>
                  <a:srgbClr val="FFFFFF"/>
                </a:solidFill>
                <a:latin typeface="맑은 고딕"/>
              </a:rPr>
              <a:t> = 최근 N봉의 ‘최고가~최저가’ 박스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FFD54F"/>
                </a:solidFill>
                <a:latin typeface="맑은 고딕"/>
              </a:rPr>
              <a:t>• 변동성 백분위가 높을수록 N(룩백)을 길게</a:t>
            </a:r>
            <a:r>
              <a:rPr sz="1600" b="0">
                <a:solidFill>
                  <a:srgbClr val="FFFFFF"/>
                </a:solidFill>
                <a:latin typeface="맑은 고딕"/>
              </a:rPr>
              <a:t> → 채널이 넓어짐 (20봉~60봉 사이)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• 왜? 변동성이 클 때 좁은 채널은 노이즈에 계속 뚫려서 가짜 신호가 남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• 변동성이 작으면(박스권) 룩백을 짧게 → 채널이 촘촘해져 되돌림을 민감하게 포착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5212080"/>
            <a:ext cx="10515600" cy="914400"/>
          </a:xfrm>
          <a:prstGeom prst="rect">
            <a:avLst/>
          </a:prstGeom>
          <a:solidFill>
            <a:srgbClr val="121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5303520"/>
            <a:ext cx="10058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5B8DFF"/>
                </a:solidFill>
                <a:latin typeface="맑은 고딕"/>
              </a:rPr>
              <a:t>원본 대비  </a:t>
            </a:r>
            <a:r>
              <a:rPr sz="1450" b="0">
                <a:solidFill>
                  <a:srgbClr val="B2B5BE"/>
                </a:solidFill>
                <a:latin typeface="맑은 고딕"/>
              </a:rPr>
              <a:t>‘점수(ahn_tr)를 그대로 기간으로’ 쓰던 우연 → 백분위를 [최소~최대 봉수]에 선형 매핑한 명시적 규칙.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28016" cy="868680"/>
          </a:xfrm>
          <a:prstGeom prst="rect">
            <a:avLst/>
          </a:prstGeom>
          <a:solidFill>
            <a:srgbClr val="FF9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9B3D"/>
                </a:solidFill>
                <a:latin typeface="맑은 고딕"/>
              </a:rPr>
              <a:t>FORMULA 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49808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맑은 고딕"/>
              </a:rPr>
              <a:t>국면 판단 — 돌파 vs 회귀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737360"/>
            <a:ext cx="5212080" cy="2286000"/>
          </a:xfrm>
          <a:prstGeom prst="rect">
            <a:avLst/>
          </a:prstGeom>
          <a:solidFill>
            <a:srgbClr val="2A1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74519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F9B3D"/>
                </a:solidFill>
                <a:latin typeface="맑은 고딕"/>
              </a:rPr>
              <a:t>돌파 모드 (VOLCANO)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377440"/>
            <a:ext cx="46634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맑은 고딕"/>
              </a:rPr>
              <a:t>• 조건: 변동성 백분위 &gt; 60%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맑은 고딕"/>
              </a:rPr>
              <a:t>• 해석: 변동성 큼 = 추세장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맑은 고딕"/>
              </a:rPr>
              <a:t>• 대응: 채널 돌파 방향으로 추종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맑은 고딕"/>
              </a:rPr>
              <a:t>• 배경색 주황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737360"/>
            <a:ext cx="5029200" cy="2286000"/>
          </a:xfrm>
          <a:prstGeom prst="rect">
            <a:avLst/>
          </a:prstGeom>
          <a:solidFill>
            <a:srgbClr val="121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874519"/>
            <a:ext cx="4480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5B8DFF"/>
                </a:solidFill>
                <a:latin typeface="맑은 고딕"/>
              </a:rPr>
              <a:t>회귀 모드 (STARS)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377440"/>
            <a:ext cx="448056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맑은 고딕"/>
              </a:rPr>
              <a:t>• 조건: 변동성 백분위 ≤ 60%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맑은 고딕"/>
              </a:rPr>
              <a:t>• 해석: 변동성 작음 = 박스권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맑은 고딕"/>
              </a:rPr>
              <a:t>• 대응: 채널 끝에서 평균으로 되돌림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맑은 고딕"/>
              </a:rPr>
              <a:t>• 배경색 파랑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2062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089981"/>
                </a:solidFill>
                <a:latin typeface="맑은 고딕"/>
              </a:rPr>
              <a:t>방향 필터 (원본 방식 유지)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66344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50" b="1">
                <a:solidFill>
                  <a:srgbClr val="089981"/>
                </a:solidFill>
                <a:latin typeface="맑은 고딕"/>
              </a:rPr>
              <a:t>• 저가 수익률의 변동성이 줄어듦</a:t>
            </a:r>
            <a:r>
              <a:rPr sz="1550" b="0">
                <a:solidFill>
                  <a:srgbClr val="FFFFFF"/>
                </a:solidFill>
                <a:latin typeface="맑은 고딕"/>
              </a:rPr>
              <a:t> → 아래쪽이 안정 → </a:t>
            </a:r>
            <a:r>
              <a:rPr sz="1550" b="1">
                <a:solidFill>
                  <a:srgbClr val="089981"/>
                </a:solidFill>
                <a:latin typeface="맑은 고딕"/>
              </a:rPr>
              <a:t>롱 후보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50" b="1">
                <a:solidFill>
                  <a:srgbClr val="F23645"/>
                </a:solidFill>
                <a:latin typeface="맑은 고딕"/>
              </a:rPr>
              <a:t>• 고가 수익률의 변동성이 줄어듦</a:t>
            </a:r>
            <a:r>
              <a:rPr sz="1550" b="0">
                <a:solidFill>
                  <a:srgbClr val="FFFFFF"/>
                </a:solidFill>
                <a:latin typeface="맑은 고딕"/>
              </a:rPr>
              <a:t> → 위쪽이 안정 → </a:t>
            </a:r>
            <a:r>
              <a:rPr sz="1550" b="1">
                <a:solidFill>
                  <a:srgbClr val="F23645"/>
                </a:solidFill>
                <a:latin typeface="맑은 고딕"/>
              </a:rPr>
              <a:t>숏 후보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50" b="0">
                <a:solidFill>
                  <a:srgbClr val="B2B5BE"/>
                </a:solidFill>
                <a:latin typeface="맑은 고딕"/>
              </a:rPr>
              <a:t>  (급변 방향이 진정되는 쪽으로 진입 = 변동성 수축 후 안정 국면을 노림)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28016" cy="868680"/>
          </a:xfrm>
          <a:prstGeom prst="rect">
            <a:avLst/>
          </a:prstGeom>
          <a:solidFill>
            <a:srgbClr val="26C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26C6DA"/>
                </a:solidFill>
                <a:latin typeface="맑은 고딕"/>
              </a:rPr>
              <a:t>ENTRY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49808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맑은 고딕"/>
              </a:rPr>
              <a:t>진입 규칙 — 4가지 대기주문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21031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B2B5BE"/>
                </a:solidFill>
                <a:latin typeface="맑은 고딕"/>
              </a:rPr>
              <a:t>구분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1828800"/>
            <a:ext cx="5120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B2B5BE"/>
                </a:solidFill>
                <a:latin typeface="맑은 고딕"/>
              </a:rPr>
              <a:t>주문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1828800"/>
            <a:ext cx="29260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B2B5BE"/>
                </a:solidFill>
                <a:latin typeface="맑은 고딕"/>
              </a:rPr>
              <a:t>의미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286000"/>
            <a:ext cx="10332720" cy="658368"/>
          </a:xfrm>
          <a:prstGeom prst="rect">
            <a:avLst/>
          </a:prstGeom>
          <a:solidFill>
            <a:srgbClr val="1E2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2286000"/>
            <a:ext cx="91440" cy="658368"/>
          </a:xfrm>
          <a:prstGeom prst="rect">
            <a:avLst/>
          </a:prstGeom>
          <a:solidFill>
            <a:srgbClr val="5B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2286000"/>
            <a:ext cx="192024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5B8DFF"/>
                </a:solidFill>
                <a:latin typeface="맑은 고딕"/>
              </a:rPr>
              <a:t>회귀 · 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2286000"/>
            <a:ext cx="52120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50" b="0">
                <a:solidFill>
                  <a:srgbClr val="FFFFFF"/>
                </a:solidFill>
                <a:latin typeface="맑은 고딕"/>
              </a:rPr>
              <a:t>채널 하단 − 버퍼 에 매수 Limit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2286000"/>
            <a:ext cx="283464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0">
                <a:solidFill>
                  <a:srgbClr val="B2B5BE"/>
                </a:solidFill>
                <a:latin typeface="맑은 고딕"/>
              </a:rPr>
              <a:t>싸게 되돌림 받기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3063240"/>
            <a:ext cx="10332720" cy="658368"/>
          </a:xfrm>
          <a:prstGeom prst="rect">
            <a:avLst/>
          </a:prstGeom>
          <a:solidFill>
            <a:srgbClr val="1E2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400" y="3063240"/>
            <a:ext cx="91440" cy="658368"/>
          </a:xfrm>
          <a:prstGeom prst="rect">
            <a:avLst/>
          </a:prstGeom>
          <a:solidFill>
            <a:srgbClr val="5B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3063240"/>
            <a:ext cx="192024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5B8DFF"/>
                </a:solidFill>
                <a:latin typeface="맑은 고딕"/>
              </a:rPr>
              <a:t>회귀 · 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3063240"/>
            <a:ext cx="52120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50" b="0">
                <a:solidFill>
                  <a:srgbClr val="FFFFFF"/>
                </a:solidFill>
                <a:latin typeface="맑은 고딕"/>
              </a:rPr>
              <a:t>채널 상단 + 버퍼 에 매도 Limit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063240"/>
            <a:ext cx="283464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0">
                <a:solidFill>
                  <a:srgbClr val="B2B5BE"/>
                </a:solidFill>
                <a:latin typeface="맑은 고딕"/>
              </a:rPr>
              <a:t>비싸게 되돌림 받기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3840480"/>
            <a:ext cx="10332720" cy="658368"/>
          </a:xfrm>
          <a:prstGeom prst="rect">
            <a:avLst/>
          </a:prstGeom>
          <a:solidFill>
            <a:srgbClr val="1E2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400" y="3840480"/>
            <a:ext cx="91440" cy="658368"/>
          </a:xfrm>
          <a:prstGeom prst="rect">
            <a:avLst/>
          </a:prstGeom>
          <a:solidFill>
            <a:srgbClr val="FF9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3840480"/>
            <a:ext cx="192024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FF9B3D"/>
                </a:solidFill>
                <a:latin typeface="맑은 고딕"/>
              </a:rPr>
              <a:t>돌파 · 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3840480"/>
            <a:ext cx="52120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50" b="0">
                <a:solidFill>
                  <a:srgbClr val="FFFFFF"/>
                </a:solidFill>
                <a:latin typeface="맑은 고딕"/>
              </a:rPr>
              <a:t>채널 상단 돌파 시 매수 Stop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3840480"/>
            <a:ext cx="283464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0">
                <a:solidFill>
                  <a:srgbClr val="B2B5BE"/>
                </a:solidFill>
                <a:latin typeface="맑은 고딕"/>
              </a:rPr>
              <a:t>뚫으면 추종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" y="4617720"/>
            <a:ext cx="10332720" cy="658368"/>
          </a:xfrm>
          <a:prstGeom prst="rect">
            <a:avLst/>
          </a:prstGeom>
          <a:solidFill>
            <a:srgbClr val="1E2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4400" y="4617720"/>
            <a:ext cx="91440" cy="658368"/>
          </a:xfrm>
          <a:prstGeom prst="rect">
            <a:avLst/>
          </a:prstGeom>
          <a:solidFill>
            <a:srgbClr val="FF9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4617720"/>
            <a:ext cx="192024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FF9B3D"/>
                </a:solidFill>
                <a:latin typeface="맑은 고딕"/>
              </a:rPr>
              <a:t>돌파 · 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17520" y="4617720"/>
            <a:ext cx="52120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50" b="0">
                <a:solidFill>
                  <a:srgbClr val="FFFFFF"/>
                </a:solidFill>
                <a:latin typeface="맑은 고딕"/>
              </a:rPr>
              <a:t>채널 하단 이탈 시 매도 Stop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4617720"/>
            <a:ext cx="283464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0">
                <a:solidFill>
                  <a:srgbClr val="B2B5BE"/>
                </a:solidFill>
                <a:latin typeface="맑은 고딕"/>
              </a:rPr>
              <a:t>무너지면 추종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80644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5B8DFF"/>
                </a:solidFill>
                <a:latin typeface="맑은 고딕"/>
              </a:rPr>
              <a:t>Limit</a:t>
            </a:r>
            <a:r>
              <a:rPr sz="1450" b="0">
                <a:solidFill>
                  <a:srgbClr val="B2B5BE"/>
                </a:solidFill>
                <a:latin typeface="맑은 고딕"/>
              </a:rPr>
              <a:t> = 되돌림을 기다렸다 유리한 가격에 · </a:t>
            </a:r>
            <a:r>
              <a:rPr sz="1450" b="1">
                <a:solidFill>
                  <a:srgbClr val="FF9B3D"/>
                </a:solidFill>
                <a:latin typeface="맑은 고딕"/>
              </a:rPr>
              <a:t>Stop</a:t>
            </a:r>
            <a:r>
              <a:rPr sz="1450" b="0">
                <a:solidFill>
                  <a:srgbClr val="B2B5BE"/>
                </a:solidFill>
                <a:latin typeface="맑은 고딕"/>
              </a:rPr>
              <a:t> = 돌파를 확인하고 따라 들어감. 대기주문은 매 봉 갱신.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28016" cy="868680"/>
          </a:xfrm>
          <a:prstGeom prst="rect">
            <a:avLst/>
          </a:prstGeom>
          <a:solidFill>
            <a:srgbClr val="F236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23645"/>
                </a:solidFill>
                <a:latin typeface="맑은 고딕"/>
              </a:rPr>
              <a:t>EXIT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49808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맑은 고딕"/>
              </a:rPr>
              <a:t>청산 규칙 — 분할 + 모드별 + 트레일링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91640"/>
            <a:ext cx="10515600" cy="566928"/>
          </a:xfrm>
          <a:prstGeom prst="rect">
            <a:avLst/>
          </a:prstGeom>
          <a:solidFill>
            <a:srgbClr val="0D1018"/>
          </a:solidFill>
          <a:ln w="12700">
            <a:solidFill>
              <a:srgbClr val="4346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91640"/>
            <a:ext cx="101498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26C6DA"/>
                </a:solidFill>
                <a:latin typeface="Consolas"/>
              </a:rPr>
              <a:t>1R = 초기 손절 거리 = ATR × 2.0        (모든 익절·손절을 R의 배수로 관리)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1460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D54F"/>
                </a:solidFill>
                <a:latin typeface="맑은 고딕"/>
              </a:rPr>
              <a:t>① 분할 익절 (scale-out)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926080"/>
            <a:ext cx="10241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  <a:latin typeface="맑은 고딕"/>
              </a:rPr>
              <a:t>• 1R 도달 → 절반(기본 50%) 부분 익절, 동시에 손절선을 본전(BE)으로 이동 → 남은 물량 리스크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65760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D54F"/>
                </a:solidFill>
                <a:latin typeface="맑은 고딕"/>
              </a:rPr>
              <a:t>② 러너(나머지) — 모드별로 다르게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069080"/>
            <a:ext cx="10241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5B8DFF"/>
                </a:solidFill>
                <a:latin typeface="맑은 고딕"/>
              </a:rPr>
              <a:t>• 회귀 진입</a:t>
            </a:r>
            <a:r>
              <a:rPr sz="1500" b="0">
                <a:solidFill>
                  <a:srgbClr val="FFFFFF"/>
                </a:solidFill>
                <a:latin typeface="맑은 고딕"/>
              </a:rPr>
              <a:t> → 채널 ‘중심선’에서 익절 (평균으로 돌아온다는 논리)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9B3D"/>
                </a:solidFill>
                <a:latin typeface="맑은 고딕"/>
              </a:rPr>
              <a:t>• 돌파 진입</a:t>
            </a:r>
            <a:r>
              <a:rPr sz="1500" b="0">
                <a:solidFill>
                  <a:srgbClr val="FFFFFF"/>
                </a:solidFill>
                <a:latin typeface="맑은 고딕"/>
              </a:rPr>
              <a:t> → 목표 없이 트레일링으로 추세 끝까지 태움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02920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D54F"/>
                </a:solidFill>
                <a:latin typeface="맑은 고딕"/>
              </a:rPr>
              <a:t>③ 단계 트레일링 (샹들리에)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5440680"/>
            <a:ext cx="10241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  <a:latin typeface="맑은 고딕"/>
              </a:rPr>
              <a:t>• 1R↑ 넓은 트레일(최고가−ATR×3) → 2R↑ 타이트 트레일(최고가−ATR×1.5) · 손절선은 절대 완화되지 않음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28016" cy="868680"/>
          </a:xfrm>
          <a:prstGeom prst="rect">
            <a:avLst/>
          </a:prstGeom>
          <a:solidFill>
            <a:srgbClr val="089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89981"/>
                </a:solidFill>
                <a:latin typeface="맑은 고딕"/>
              </a:rPr>
              <a:t>WHEN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49808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맑은 고딕"/>
              </a:rPr>
              <a:t>어떤 구간에서 좋은가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737360"/>
            <a:ext cx="5212080" cy="4389120"/>
          </a:xfrm>
          <a:prstGeom prst="rect">
            <a:avLst/>
          </a:prstGeom>
          <a:solidFill>
            <a:srgbClr val="102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74519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089981"/>
                </a:solidFill>
                <a:latin typeface="맑은 고딕"/>
              </a:rPr>
              <a:t>✓ 강점 구간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377440"/>
            <a:ext cx="466344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50" b="0">
                <a:solidFill>
                  <a:srgbClr val="FFFFFF"/>
                </a:solidFill>
                <a:latin typeface="맑은 고딕"/>
              </a:rPr>
              <a:t>• 추세 ↔ 박스가 번갈아 나오는 시장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50" b="0">
                <a:solidFill>
                  <a:srgbClr val="FFFFFF"/>
                </a:solidFill>
                <a:latin typeface="맑은 고딕"/>
              </a:rPr>
              <a:t>   → 국면 자동 전환이 진가를 발휘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50" b="0">
                <a:solidFill>
                  <a:srgbClr val="FFFFFF"/>
                </a:solidFill>
                <a:latin typeface="맑은 고딕"/>
              </a:rPr>
              <a:t>• 유동성 큰 지수 · 선물 (체결 안정)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50" b="0">
                <a:solidFill>
                  <a:srgbClr val="FFFFFF"/>
                </a:solidFill>
                <a:latin typeface="맑은 고딕"/>
              </a:rPr>
              <a:t>• 변동성이 뚜렷하게 확장/수축하는 국면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50" b="0">
                <a:solidFill>
                  <a:srgbClr val="FFFFFF"/>
                </a:solidFill>
                <a:latin typeface="맑은 고딕"/>
              </a:rPr>
              <a:t>• 돌파장에선 추세추종,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50" b="0">
                <a:solidFill>
                  <a:srgbClr val="FFFFFF"/>
                </a:solidFill>
                <a:latin typeface="맑은 고딕"/>
              </a:rPr>
              <a:t>   박스권에선 평균회귀로 양쪽 대응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737360"/>
            <a:ext cx="5029200" cy="4389120"/>
          </a:xfrm>
          <a:prstGeom prst="rect">
            <a:avLst/>
          </a:prstGeom>
          <a:solidFill>
            <a:srgbClr val="2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874519"/>
            <a:ext cx="4480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23645"/>
                </a:solidFill>
                <a:latin typeface="맑은 고딕"/>
              </a:rPr>
              <a:t>⚠ 주의 구간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377440"/>
            <a:ext cx="44805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50" b="0">
                <a:solidFill>
                  <a:srgbClr val="FFFFFF"/>
                </a:solidFill>
                <a:latin typeface="맑은 고딕"/>
              </a:rPr>
              <a:t>• 방향성 없는 초저변동 횡보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50" b="0">
                <a:solidFill>
                  <a:srgbClr val="FFFFFF"/>
                </a:solidFill>
                <a:latin typeface="맑은 고딕"/>
              </a:rPr>
              <a:t>   → 신호 자체가 드물어짐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50" b="0">
                <a:solidFill>
                  <a:srgbClr val="FFFFFF"/>
                </a:solidFill>
                <a:latin typeface="맑은 고딕"/>
              </a:rPr>
              <a:t>• 갭 잦은 개별 소형주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50" b="0">
                <a:solidFill>
                  <a:srgbClr val="FFFFFF"/>
                </a:solidFill>
                <a:latin typeface="맑은 고딕"/>
              </a:rPr>
              <a:t>   → Stop 슬리피지 위험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50" b="0">
                <a:solidFill>
                  <a:srgbClr val="FFFFFF"/>
                </a:solidFill>
                <a:latin typeface="맑은 고딕"/>
              </a:rPr>
              <a:t>• 데이터 초반 240봉은 백분위 워밍업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50" b="0">
                <a:solidFill>
                  <a:srgbClr val="FFFFFF"/>
                </a:solidFill>
                <a:latin typeface="맑은 고딕"/>
              </a:rPr>
              <a:t>   → 그 구간 신호는 신뢰도 낮음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50" b="0">
                <a:solidFill>
                  <a:srgbClr val="FFFFFF"/>
                </a:solidFill>
                <a:latin typeface="맑은 고딕"/>
              </a:rPr>
              <a:t>• 뉴스 이벤트성 급변엔 트레일 취약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28016" cy="868680"/>
          </a:xfrm>
          <a:prstGeom prst="rect">
            <a:avLst/>
          </a:prstGeom>
          <a:solidFill>
            <a:srgbClr val="5B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5B8DFF"/>
                </a:solidFill>
                <a:latin typeface="맑은 고딕"/>
              </a:rPr>
              <a:t>TUNING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49808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맑은 고딕"/>
              </a:rPr>
              <a:t>주요 파라미터 &amp; 백테스트 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329184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B2B5BE"/>
                </a:solidFill>
                <a:latin typeface="맑은 고딕"/>
              </a:rPr>
              <a:t>파라미터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1783080"/>
            <a:ext cx="20116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B2B5BE"/>
                </a:solidFill>
                <a:latin typeface="맑은 고딕"/>
              </a:rPr>
              <a:t>기본값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783080"/>
            <a:ext cx="502920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B2B5BE"/>
                </a:solidFill>
                <a:latin typeface="맑은 고딕"/>
              </a:rPr>
              <a:t>의미 / 효과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94560"/>
            <a:ext cx="10332720" cy="530352"/>
          </a:xfrm>
          <a:prstGeom prst="rect">
            <a:avLst/>
          </a:prstGeom>
          <a:solidFill>
            <a:srgbClr val="1A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194560"/>
            <a:ext cx="32004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맑은 고딕"/>
              </a:rPr>
              <a:t>변동성 임계 백분위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2194560"/>
            <a:ext cx="192024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0">
                <a:solidFill>
                  <a:srgbClr val="26C6DA"/>
                </a:solidFill>
                <a:latin typeface="Consolas"/>
              </a:rPr>
              <a:t>60%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194560"/>
            <a:ext cx="493776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B2B5BE"/>
                </a:solidFill>
                <a:latin typeface="맑은 고딕"/>
              </a:rPr>
              <a:t>↑ 돌파(추세) 비중 · ↓ 회귀(박스) 비중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798064"/>
            <a:ext cx="32004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맑은 고딕"/>
              </a:rPr>
              <a:t>룩백 최소~최대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2798064"/>
            <a:ext cx="192024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0">
                <a:solidFill>
                  <a:srgbClr val="26C6DA"/>
                </a:solidFill>
                <a:latin typeface="Consolas"/>
              </a:rPr>
              <a:t>20~60봉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798064"/>
            <a:ext cx="493776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B2B5BE"/>
                </a:solidFill>
                <a:latin typeface="맑은 고딕"/>
              </a:rPr>
              <a:t>채널 민감도 (좁게~넓게)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3401568"/>
            <a:ext cx="10332720" cy="530352"/>
          </a:xfrm>
          <a:prstGeom prst="rect">
            <a:avLst/>
          </a:prstGeom>
          <a:solidFill>
            <a:srgbClr val="1A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3401568"/>
            <a:ext cx="32004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맑은 고딕"/>
              </a:rPr>
              <a:t>초기 손절 (1R)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3401568"/>
            <a:ext cx="192024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0">
                <a:solidFill>
                  <a:srgbClr val="26C6DA"/>
                </a:solidFill>
                <a:latin typeface="Consolas"/>
              </a:rPr>
              <a:t>ATR×2.0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3401568"/>
            <a:ext cx="493776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B2B5BE"/>
                </a:solidFill>
                <a:latin typeface="맑은 고딕"/>
              </a:rPr>
              <a:t>리스크 단위. 넓히면 손절 덜 걸림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005072"/>
            <a:ext cx="32004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맑은 고딕"/>
              </a:rPr>
              <a:t>트레일 배수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4005072"/>
            <a:ext cx="192024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0">
                <a:solidFill>
                  <a:srgbClr val="26C6DA"/>
                </a:solidFill>
                <a:latin typeface="Consolas"/>
              </a:rPr>
              <a:t>3.0 / 1.5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4005072"/>
            <a:ext cx="493776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B2B5BE"/>
                </a:solidFill>
                <a:latin typeface="맑은 고딕"/>
              </a:rPr>
              <a:t>넓은→타이트. 이익 반납 vs 조기청산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4608576"/>
            <a:ext cx="10332720" cy="530352"/>
          </a:xfrm>
          <a:prstGeom prst="rect">
            <a:avLst/>
          </a:prstGeom>
          <a:solidFill>
            <a:srgbClr val="1A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4608576"/>
            <a:ext cx="32004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맑은 고딕"/>
              </a:rPr>
              <a:t>1차 익절 비율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6240" y="4608576"/>
            <a:ext cx="192024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0">
                <a:solidFill>
                  <a:srgbClr val="26C6DA"/>
                </a:solidFill>
                <a:latin typeface="Consolas"/>
              </a:rPr>
              <a:t>50%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4608576"/>
            <a:ext cx="493776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B2B5BE"/>
                </a:solidFill>
                <a:latin typeface="맑은 고딕"/>
              </a:rPr>
              <a:t>0=전량 러너 · 100=1R 전량 익절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349240"/>
            <a:ext cx="103327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D54F"/>
                </a:solidFill>
                <a:latin typeface="맑은 고딕"/>
              </a:rPr>
              <a:t>백테스트 팁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0">
                <a:solidFill>
                  <a:srgbClr val="FFFFFF"/>
                </a:solidFill>
                <a:latin typeface="맑은 고딕"/>
              </a:rPr>
              <a:t>• ‘기간 제한’으로 A구간에서 튜닝 → B구간에서 검증(아웃오브샘플)해 과최적화 확인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0">
                <a:solidFill>
                  <a:srgbClr val="FFFFFF"/>
                </a:solidFill>
                <a:latin typeface="맑은 고딕"/>
              </a:rPr>
              <a:t>• 1차 익절 비율을 0 / 50 / 100 으로 바꿔 ‘분할 효과’ 비교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0">
                <a:solidFill>
                  <a:srgbClr val="FFFFFF"/>
                </a:solidFill>
                <a:latin typeface="맑은 고딕"/>
              </a:rPr>
              <a:t>• 임계 백분위를 40~70%로 옮겨 ‘추세형 vs 회귀형’ 성향 조정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089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89981"/>
                </a:solidFill>
                <a:latin typeface="맑은 고딕"/>
              </a:rPr>
              <a:t>요약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맑은 고딕"/>
              </a:rPr>
              <a:t>블랙박스 전략을 </a:t>
            </a:r>
            <a:r>
              <a:rPr sz="3000" b="1">
                <a:solidFill>
                  <a:srgbClr val="089981"/>
                </a:solidFill>
                <a:latin typeface="맑은 고딕"/>
              </a:rPr>
              <a:t>설명 가능한 규칙</a:t>
            </a:r>
            <a:r>
              <a:rPr sz="3000" b="1">
                <a:solidFill>
                  <a:srgbClr val="FFFFFF"/>
                </a:solidFill>
                <a:latin typeface="맑은 고딕"/>
              </a:rPr>
              <a:t>으로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017520"/>
            <a:ext cx="1051560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900" b="1">
                <a:solidFill>
                  <a:srgbClr val="089981"/>
                </a:solidFill>
                <a:latin typeface="맑은 고딕"/>
              </a:rPr>
              <a:t>① </a:t>
            </a:r>
            <a:r>
              <a:rPr sz="1900" b="0">
                <a:solidFill>
                  <a:srgbClr val="FFFFFF"/>
                </a:solidFill>
                <a:latin typeface="맑은 고딕"/>
              </a:rPr>
              <a:t>변동성 백분위로 ‘지금이 추세인가 박스인가’를 측정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900" b="1">
                <a:solidFill>
                  <a:srgbClr val="FF9B3D"/>
                </a:solidFill>
                <a:latin typeface="맑은 고딕"/>
              </a:rPr>
              <a:t>② </a:t>
            </a:r>
            <a:r>
              <a:rPr sz="1900" b="0">
                <a:solidFill>
                  <a:srgbClr val="FFFFFF"/>
                </a:solidFill>
                <a:latin typeface="맑은 고딕"/>
              </a:rPr>
              <a:t>국면에 맞춰 돌파 추종 또는 평균 회귀로 진입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900" b="1">
                <a:solidFill>
                  <a:srgbClr val="26C6DA"/>
                </a:solidFill>
                <a:latin typeface="맑은 고딕"/>
              </a:rPr>
              <a:t>③ </a:t>
            </a:r>
            <a:r>
              <a:rPr sz="1900" b="0">
                <a:solidFill>
                  <a:srgbClr val="FFFFFF"/>
                </a:solidFill>
                <a:latin typeface="맑은 고딕"/>
              </a:rPr>
              <a:t>1R 분할 익절 + 모드별 목표 + 트레일링으로 청산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900" b="1">
                <a:solidFill>
                  <a:srgbClr val="5B8DFF"/>
                </a:solidFill>
                <a:latin typeface="맑은 고딕"/>
              </a:rPr>
              <a:t>④ </a:t>
            </a:r>
            <a:r>
              <a:rPr sz="1900" b="0">
                <a:solidFill>
                  <a:srgbClr val="FFFFFF"/>
                </a:solidFill>
                <a:latin typeface="맑은 고딕"/>
              </a:rPr>
              <a:t>모든 값이 ATR·백분위·R 단위 → 검증·최적화 가능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900" b="0">
                <a:solidFill>
                  <a:srgbClr val="FFFFFF"/>
                </a:solidFill>
                <a:latin typeface="맑은 고딕"/>
              </a:rPr>
              <a:t/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900" b="0">
                <a:solidFill>
                  <a:srgbClr val="B2B5BE"/>
                </a:solidFill>
                <a:latin typeface="맑은 고딕"/>
              </a:rPr>
              <a:t>파일: </a:t>
            </a:r>
            <a:r>
              <a:rPr sz="1300" b="0">
                <a:solidFill>
                  <a:srgbClr val="B2B5BE"/>
                </a:solidFill>
                <a:latin typeface="Consolas"/>
              </a:rPr>
              <a:t>tradingview/Adaptive_Volatility_Channel.pine  (인디케이터)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900" b="0">
                <a:solidFill>
                  <a:srgbClr val="B2B5BE"/>
                </a:solidFill>
                <a:latin typeface="맑은 고딕"/>
              </a:rPr>
              <a:t>       </a:t>
            </a:r>
            <a:r>
              <a:rPr sz="1300" b="0">
                <a:solidFill>
                  <a:srgbClr val="B2B5BE"/>
                </a:solidFill>
                <a:latin typeface="Consolas"/>
              </a:rPr>
              <a:t>tradingview/Adaptive_Volatility_Channel_Strategy.pine  (전략)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