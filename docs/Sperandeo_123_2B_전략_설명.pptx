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089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89981"/>
                </a:solidFill>
                <a:latin typeface="맑은 고딕"/>
              </a:rPr>
              <a:t>Victor Sperandeo · 추세전환 매매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맑은 고딕"/>
              </a:rPr>
              <a:t>1-2-3 &amp; 2B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B2B5BE"/>
                </a:solidFill>
                <a:latin typeface="맑은 고딕"/>
              </a:rPr>
              <a:t>이론부터 코드 구현까지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B2B5BE"/>
                </a:solidFill>
                <a:latin typeface="맑은 고딕"/>
              </a:rPr>
              <a:t>책 「전설의 프로 트레이더 빅 2」 10장의 재량적 규칙을 </a:t>
            </a:r>
            <a:r>
              <a:rPr sz="1700" b="1">
                <a:solidFill>
                  <a:srgbClr val="FFFFFF"/>
                </a:solidFill>
                <a:latin typeface="맑은 고딕"/>
              </a:rPr>
              <a:t>피벗(프랙탈) 기반으로 자동화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B2B5BE"/>
                </a:solidFill>
                <a:latin typeface="Consolas"/>
              </a:rPr>
              <a:t>Reversal 123_v2 (인디케이터) + 백테스트 전략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28016" cy="841248"/>
          </a:xfrm>
          <a:prstGeom prst="rect">
            <a:avLst/>
          </a:prstGeom>
          <a:solidFill>
            <a:srgbClr val="5B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B8DFF"/>
                </a:solidFill>
                <a:latin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94944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맑은 고딕"/>
              </a:rPr>
              <a:t>이 전략은 무엇인가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5212080" cy="452628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5B8DFF"/>
                </a:solidFill>
                <a:latin typeface="맑은 고딕"/>
              </a:rPr>
              <a:t>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46634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FFFFFF"/>
                </a:solidFill>
                <a:latin typeface="맑은 고딕"/>
              </a:rPr>
              <a:t>• 빅터 스페란데오(Trader Vic)의 추세전환 판별법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FFFFFF"/>
                </a:solidFill>
                <a:latin typeface="맑은 고딕"/>
              </a:rPr>
              <a:t>• 1-2-3 규칙 = 추세전환의 3대 조건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FFFFFF"/>
                </a:solidFill>
                <a:latin typeface="맑은 고딕"/>
              </a:rPr>
              <a:t>• 2B 규칙 = 특수한 '실패 돌파' 반전 신호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FFFFFF"/>
                </a:solidFill>
                <a:latin typeface="맑은 고딕"/>
              </a:rPr>
              <a:t>• 사람이 눈으로 보던 규칙을 코드로 규칙화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FFFFFF"/>
                </a:solidFill>
                <a:latin typeface="맑은 고딕"/>
              </a:rPr>
              <a:t>• 차트 표시(인디케이터) + 성과 검증(전략)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600200"/>
            <a:ext cx="5029200" cy="452628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89981"/>
                </a:solidFill>
                <a:latin typeface="맑은 고딕"/>
              </a:rPr>
              <a:t>두 축으로 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4805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FFD54F"/>
                </a:solidFill>
                <a:latin typeface="맑은 고딕"/>
              </a:rPr>
              <a:t>이론(책) </a:t>
            </a:r>
            <a:r>
              <a:rPr sz="1550" b="0">
                <a:solidFill>
                  <a:srgbClr val="B2B5BE"/>
                </a:solidFill>
                <a:latin typeface="맑은 고딕"/>
              </a:rPr>
              <a:t>→ </a:t>
            </a:r>
            <a:r>
              <a:rPr sz="1550" b="0">
                <a:solidFill>
                  <a:srgbClr val="FFFFFF"/>
                </a:solidFill>
                <a:latin typeface="맑은 고딕"/>
              </a:rPr>
              <a:t>코드(피벗·추세선·상태머신)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0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089981"/>
                </a:solidFill>
                <a:latin typeface="맑은 고딕"/>
              </a:rPr>
              <a:t>· 1-2-3 </a:t>
            </a:r>
            <a:r>
              <a:rPr sz="1550" b="0">
                <a:solidFill>
                  <a:srgbClr val="FFFFFF"/>
                </a:solidFill>
                <a:latin typeface="맑은 고딕"/>
              </a:rPr>
              <a:t>추세선 돌파 → 재시험 실패 → 반등저점 돌파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F23645"/>
                </a:solidFill>
                <a:latin typeface="맑은 고딕"/>
              </a:rPr>
              <a:t>· 2B </a:t>
            </a:r>
            <a:r>
              <a:rPr sz="1550" b="0">
                <a:solidFill>
                  <a:srgbClr val="FFFFFF"/>
                </a:solidFill>
                <a:latin typeface="맑은 고딕"/>
              </a:rPr>
              <a:t>신고점 경신 후 되돌림(가짜 돌파)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0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0">
                <a:solidFill>
                  <a:srgbClr val="B2B5BE"/>
                </a:solidFill>
                <a:latin typeface="맑은 고딕"/>
              </a:rPr>
              <a:t>모든 판정의 뿌리 = </a:t>
            </a:r>
            <a:r>
              <a:rPr sz="1550" b="1">
                <a:solidFill>
                  <a:srgbClr val="26C6DA"/>
                </a:solidFill>
                <a:latin typeface="맑은 고딕"/>
              </a:rPr>
              <a:t>피벗(프랙탈)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28016" cy="841248"/>
          </a:xfrm>
          <a:prstGeom prst="rect">
            <a:avLst/>
          </a:prstGeom>
          <a:solidFill>
            <a:srgbClr val="089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89981"/>
                </a:solidFill>
                <a:latin typeface="맑은 고딕"/>
              </a:rPr>
              <a:t>THEORY · 1-2-3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94944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맑은 고딕"/>
              </a:rPr>
              <a:t>스페란데오 1-2-3 규칙 (이론)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B2B5BE"/>
                </a:solidFill>
                <a:latin typeface="맑은 고딕"/>
              </a:rPr>
              <a:t>상승추세가 하락으로 전환할 때 (거울상으로 상승전환도 동일)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429000" cy="320040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3429000" cy="100584"/>
          </a:xfrm>
          <a:prstGeom prst="rect">
            <a:avLst/>
          </a:prstGeom>
          <a:solidFill>
            <a:srgbClr val="F236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3172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23645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24612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</a:rPr>
              <a:t>추세선 돌파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794760"/>
            <a:ext cx="2971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B2B5BE"/>
                </a:solidFill>
                <a:latin typeface="맑은 고딕"/>
              </a:rPr>
              <a:t>상승 지지선(상승 저점들을 이은 선)을
종가가 아래로 이탈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6552" y="2103120"/>
            <a:ext cx="3429000" cy="320040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2103120"/>
            <a:ext cx="3429000" cy="100584"/>
          </a:xfrm>
          <a:prstGeom prst="rect">
            <a:avLst/>
          </a:prstGeom>
          <a:solidFill>
            <a:srgbClr val="FF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233172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9B3D"/>
                </a:solidFill>
                <a:latin typeface="맑은 고딕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324612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</a:rPr>
              <a:t>고점 재시험 실패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3794760"/>
            <a:ext cx="2971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B2B5BE"/>
                </a:solidFill>
                <a:latin typeface="맑은 고딕"/>
              </a:rPr>
              <a:t>반등했으나 직전 고점을 못 넘고
lower high (근접/닿거나 약간 넘었다 실패)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2103120"/>
            <a:ext cx="3429000" cy="320040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2103120"/>
            <a:ext cx="3429000" cy="100584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6" y="233172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D54F"/>
                </a:solidFill>
                <a:latin typeface="맑은 고딕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324612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</a:rPr>
              <a:t>반등 저점 돌파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3794760"/>
            <a:ext cx="2971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B2B5BE"/>
                </a:solidFill>
                <a:latin typeface="맑은 고딕"/>
              </a:rPr>
              <a:t>직전 반등 저점(지지)을 하향 돌파
→ 추세전환 확정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2개 충족 = 전환 진행 중 · 3개 충족 = 전환 완료(새 방향 지속 가능성 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28016" cy="841248"/>
          </a:xfrm>
          <a:prstGeom prst="rect">
            <a:avLst/>
          </a:prstGeom>
          <a:solidFill>
            <a:srgbClr val="F236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3645"/>
                </a:solidFill>
                <a:latin typeface="맑은 고딕"/>
              </a:rPr>
              <a:t>THEORY ·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94944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맑은 고딕"/>
              </a:rPr>
              <a:t>스페란데오 2B 규칙 (이론)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10515600" cy="1371600"/>
          </a:xfrm>
          <a:prstGeom prst="rect">
            <a:avLst/>
          </a:prstGeom>
          <a:solidFill>
            <a:srgbClr val="2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23645"/>
                </a:solidFill>
                <a:latin typeface="맑은 고딕"/>
              </a:rPr>
              <a:t>2B 규칙:  </a:t>
            </a:r>
            <a:r>
              <a:rPr sz="1600" b="0">
                <a:solidFill>
                  <a:srgbClr val="FFFFFF"/>
                </a:solidFill>
                <a:latin typeface="맑은 고딕"/>
              </a:rPr>
              <a:t>상승추세에서 신고점을 만든 뒤 계속 오르지 못하고 하락해 </a:t>
            </a:r>
            <a:r>
              <a:rPr sz="1600" b="1">
                <a:solidFill>
                  <a:srgbClr val="FFD54F"/>
                </a:solidFill>
                <a:latin typeface="맑은 고딕"/>
              </a:rPr>
              <a:t>이전 고점을 하향 돌파</a:t>
            </a:r>
            <a:r>
              <a:rPr sz="1600" b="0">
                <a:solidFill>
                  <a:srgbClr val="FFFFFF"/>
                </a:solidFill>
                <a:latin typeface="맑은 고딕"/>
              </a:rPr>
              <a:t>하면 추세가 전환되기 쉽다. 하락추세는 그 반대.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9B3D"/>
                </a:solidFill>
                <a:latin typeface="맑은 고딕"/>
              </a:rPr>
              <a:t>쉽게 말하면 = '가짜 돌파(False Breakout)'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FFFFFF"/>
                </a:solidFill>
                <a:latin typeface="맑은 고딕"/>
              </a:rPr>
              <a:t>• 직전 고점을 살짝 '경신'했다가 힘없이 되돌아옴 → </a:t>
            </a:r>
            <a:r>
              <a:rPr sz="1550" b="1">
                <a:solidFill>
                  <a:srgbClr val="F23645"/>
                </a:solidFill>
                <a:latin typeface="맑은 고딕"/>
              </a:rPr>
              <a:t>매수세 소진 신호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FFFFFF"/>
                </a:solidFill>
                <a:latin typeface="맑은 고딕"/>
              </a:rPr>
              <a:t>• 흔히 스탑헌팅(stop hunting) 자리 — 고점 위 손절을 털고 반전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FFFFFF"/>
                </a:solidFill>
                <a:latin typeface="맑은 고딕"/>
              </a:rPr>
              <a:t>• 하단 2B(상승) = 신저점 경신 후 되돌아 올라옴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B2B5BE"/>
                </a:solidFill>
                <a:latin typeface="맑은 고딕"/>
              </a:rPr>
              <a:t>• 스페란데오는 다른 척도보다 2B에 비중을 크게 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28016" cy="841248"/>
          </a:xfrm>
          <a:prstGeom prst="rect">
            <a:avLst/>
          </a:prstGeom>
          <a:solidFill>
            <a:srgbClr val="5B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B8DFF"/>
                </a:solidFill>
                <a:latin typeface="맑은 고딕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94944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맑은 고딕"/>
              </a:rPr>
              <a:t>소스 전체 구조 — 뿌리는 '피벗'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5212080" cy="1051560"/>
          </a:xfrm>
          <a:prstGeom prst="rect">
            <a:avLst/>
          </a:prstGeom>
          <a:solidFill>
            <a:srgbClr val="0D1018"/>
          </a:solidFill>
          <a:ln w="12700">
            <a:solidFill>
              <a:srgbClr val="4346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755648"/>
            <a:ext cx="4882896" cy="8321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ph = ta.pivothigh(n, n)   // n=5 (민감)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pl = ta.pivotlow(n, 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52120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26C6DA"/>
                </a:solidFill>
                <a:latin typeface="맑은 고딕"/>
              </a:rPr>
              <a:t>피벗을 3가지로 활용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FFD54F"/>
                </a:solidFill>
                <a:latin typeface="맑은 고딕"/>
              </a:rPr>
              <a:t>① 대각 추세선</a:t>
            </a:r>
            <a:r>
              <a:rPr sz="1550" b="0">
                <a:solidFill>
                  <a:srgbClr val="B2B5BE"/>
                </a:solidFill>
                <a:latin typeface="맑은 고딕"/>
              </a:rPr>
              <a:t>  (점1 판정)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FFD54F"/>
                </a:solidFill>
                <a:latin typeface="맑은 고딕"/>
              </a:rPr>
              <a:t>② 피벗 그 자체</a:t>
            </a:r>
            <a:r>
              <a:rPr sz="1550" b="0">
                <a:solidFill>
                  <a:srgbClr val="B2B5BE"/>
                </a:solidFill>
                <a:latin typeface="맑은 고딕"/>
              </a:rPr>
              <a:t>  (점2 판정)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FFD54F"/>
                </a:solidFill>
                <a:latin typeface="맑은 고딕"/>
              </a:rPr>
              <a:t>③ 수평 레벨</a:t>
            </a:r>
            <a:r>
              <a:rPr sz="1550" b="0">
                <a:solidFill>
                  <a:srgbClr val="B2B5BE"/>
                </a:solidFill>
                <a:latin typeface="맑은 고딕"/>
              </a:rPr>
              <a:t>  (점3 · 2B 판정)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645920"/>
            <a:ext cx="5029200" cy="429768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89981"/>
                </a:solidFill>
                <a:latin typeface="맑은 고딕"/>
              </a:rPr>
              <a:t>상태머신 (topSt / botSt)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377440"/>
            <a:ext cx="502920" cy="502920"/>
          </a:xfrm>
          <a:prstGeom prst="rect">
            <a:avLst/>
          </a:prstGeom>
          <a:solidFill>
            <a:srgbClr val="B2B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3774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31722"/>
                </a:solidFill>
                <a:latin typeface="맑은 고딕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377440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대기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88036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B2B5BE"/>
                </a:solidFill>
                <a:latin typeface="맑은 고딕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200400"/>
            <a:ext cx="502920" cy="502920"/>
          </a:xfrm>
          <a:prstGeom prst="rect">
            <a:avLst/>
          </a:prstGeom>
          <a:solidFill>
            <a:srgbClr val="F236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2004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31722"/>
                </a:solidFill>
                <a:latin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200400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추세선 돌파 (점1)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7033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B2B5BE"/>
                </a:solidFill>
                <a:latin typeface="맑은 고딕"/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023360"/>
            <a:ext cx="502920" cy="502920"/>
          </a:xfrm>
          <a:prstGeom prst="rect">
            <a:avLst/>
          </a:prstGeom>
          <a:solidFill>
            <a:srgbClr val="FF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0233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31722"/>
                </a:solidFill>
                <a:latin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4023360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재시험 실패 (점2)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52628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B2B5BE"/>
                </a:solidFill>
                <a:latin typeface="맑은 고딕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4846320"/>
            <a:ext cx="502920" cy="50292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8463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31722"/>
                </a:solidFill>
                <a:latin typeface="맑은 고딕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4846320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반등저점 돌파 (점3) → 리셋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28016" cy="841248"/>
          </a:xfrm>
          <a:prstGeom prst="rect">
            <a:avLst/>
          </a:prstGeom>
          <a:solidFill>
            <a:srgbClr val="F236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3645"/>
                </a:solidFill>
                <a:latin typeface="맑은 고딕"/>
              </a:rPr>
              <a:t>CODE · POINT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94944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맑은 고딕"/>
              </a:rPr>
              <a:t>점 1 — 추세선 돌파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5120640" cy="3200400"/>
          </a:xfrm>
          <a:prstGeom prst="rect">
            <a:avLst/>
          </a:prstGeom>
          <a:solidFill>
            <a:srgbClr val="1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10512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D54F"/>
                </a:solidFill>
                <a:latin typeface="맑은 고딕"/>
              </a:rPr>
              <a:t>이론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6634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상승 지지선 = 최근 두 저점(dn1,dn2)을 이은 선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종가가 이 선을 하향 돌파하면 점1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상태 0 → 1로 진입, 라벨 '1'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7373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6C6DA"/>
                </a:solidFill>
                <a:latin typeface="맑은 고딕"/>
              </a:rPr>
              <a:t>코드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103120"/>
            <a:ext cx="5212080" cy="2743200"/>
          </a:xfrm>
          <a:prstGeom prst="rect">
            <a:avLst/>
          </a:prstGeom>
          <a:solidFill>
            <a:srgbClr val="0D1018"/>
          </a:solidFill>
          <a:ln w="12700">
            <a:solidFill>
              <a:srgbClr val="4346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212848"/>
            <a:ext cx="4882896" cy="2523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slope_dn = (dn1-dn2)/(dn1x-dn2x)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y_dn = dn1 + slope_dn*(bar_index-dn1x)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brk1_top = upCtx and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    ta.crossunder(close, y_dn)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if brk1_top and topSt==0: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    topSt := 1 ;  mk(..,"1")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029200"/>
            <a:ext cx="10561320" cy="1051560"/>
          </a:xfrm>
          <a:prstGeom prst="rect">
            <a:avLst/>
          </a:prstGeom>
          <a:solidFill>
            <a:srgbClr val="10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138928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89981"/>
                </a:solidFill>
                <a:latin typeface="맑은 고딕"/>
              </a:rPr>
              <a:t>쉽게:  </a:t>
            </a:r>
            <a:r>
              <a:rPr sz="1450" b="0">
                <a:solidFill>
                  <a:srgbClr val="FFFFFF"/>
                </a:solidFill>
                <a:latin typeface="맑은 고딕"/>
              </a:rPr>
              <a:t>최근 두 저점을 이은 '상승 지지선'을 종가가 아래로 뚫으면 점1. (상승전환은 하락 저항선을 위로 돌파)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28016" cy="841248"/>
          </a:xfrm>
          <a:prstGeom prst="rect">
            <a:avLst/>
          </a:prstGeom>
          <a:solidFill>
            <a:srgbClr val="FF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9B3D"/>
                </a:solidFill>
                <a:latin typeface="맑은 고딕"/>
              </a:rPr>
              <a:t>CODE · POINT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94944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맑은 고딕"/>
              </a:rPr>
              <a:t>점 2 — 고점 재시험 실패 (+허용치)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5120640" cy="3200400"/>
          </a:xfrm>
          <a:prstGeom prst="rect">
            <a:avLst/>
          </a:prstGeom>
          <a:solidFill>
            <a:srgbClr val="1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10512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D54F"/>
                </a:solidFill>
                <a:latin typeface="맑은 고딕"/>
              </a:rPr>
              <a:t>이론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6634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반등했지만 직전 고점 못 넘는 새 피벗 고점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책: '근접/닿거나 약간 넘었다 실패'도 인정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허용치(tol=ATR배수)로 살짝 침범(스프링) 허용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점1 이후 형성된 피벗만 (순서 보장)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7373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6C6DA"/>
                </a:solidFill>
                <a:latin typeface="맑은 고딕"/>
              </a:rPr>
              <a:t>코드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103120"/>
            <a:ext cx="5212080" cy="2743200"/>
          </a:xfrm>
          <a:prstGeom prst="rect">
            <a:avLst/>
          </a:prstGeom>
          <a:solidFill>
            <a:srgbClr val="0D1018"/>
          </a:solidFill>
          <a:ln w="12700">
            <a:solidFill>
              <a:srgbClr val="4346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212848"/>
            <a:ext cx="4882896" cy="2523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tol = testTolMult * ATR   // 스프링 허용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if topSt==1 and ph &lt; topHigh + tol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   and (bar_index-n) &gt; topStartBar: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    topSt := 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    topLow := dn1   // 점3용 지지 기억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    mk(bar_index-n, ph, "2")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029200"/>
            <a:ext cx="10561320" cy="1051560"/>
          </a:xfrm>
          <a:prstGeom prst="rect">
            <a:avLst/>
          </a:prstGeom>
          <a:solidFill>
            <a:srgbClr val="10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138928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89981"/>
                </a:solidFill>
                <a:latin typeface="맑은 고딕"/>
              </a:rPr>
              <a:t>쉽게:  </a:t>
            </a:r>
            <a:r>
              <a:rPr sz="1450" b="0">
                <a:solidFill>
                  <a:srgbClr val="FFFFFF"/>
                </a:solidFill>
                <a:latin typeface="맑은 고딕"/>
              </a:rPr>
              <a:t>반등이 직전 고점을 못 넘고 꺾이면 점2. '살짝 넘었다 실패(tol)'도 인정하고, 그 범위 안에선 무효화도 안 함.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28016" cy="841248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D54F"/>
                </a:solidFill>
                <a:latin typeface="맑은 고딕"/>
              </a:rPr>
              <a:t>CODE · POINT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94944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맑은 고딕"/>
              </a:rPr>
              <a:t>점 3 — 반등 저점 돌파 → 전환 확정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5120640" cy="3200400"/>
          </a:xfrm>
          <a:prstGeom prst="rect">
            <a:avLst/>
          </a:prstGeom>
          <a:solidFill>
            <a:srgbClr val="1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10512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D54F"/>
                </a:solidFill>
                <a:latin typeface="맑은 고딕"/>
              </a:rPr>
              <a:t>이론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6634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점2가 기억한 반등 저점(topLow)을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  종가가 하향 돌파하면 점3 = 전환 확정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발동 후 상태 리셋(0)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무효화: 신고점(high&gt;topHigh+tol)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만료: 점1 후 setupExpireBars(30봉) 초과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7373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6C6DA"/>
                </a:solidFill>
                <a:latin typeface="맑은 고딕"/>
              </a:rPr>
              <a:t>코드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103120"/>
            <a:ext cx="5212080" cy="2743200"/>
          </a:xfrm>
          <a:prstGeom prst="rect">
            <a:avLst/>
          </a:prstGeom>
          <a:solidFill>
            <a:srgbClr val="0D1018"/>
          </a:solidFill>
          <a:ln w="12700">
            <a:solidFill>
              <a:srgbClr val="4346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212848"/>
            <a:ext cx="4882896" cy="2523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topLowBreak =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    ta.crossunder(close, topLow)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if topSt==2 and topLowBreak: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    mk(bar_index, high, "3")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    fireTop3 := true   // 매도 신호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C6DA"/>
                </a:solidFill>
                <a:latin typeface="Consolas"/>
              </a:rPr>
              <a:t>    topSt := 0   // 리셋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029200"/>
            <a:ext cx="10561320" cy="1051560"/>
          </a:xfrm>
          <a:prstGeom prst="rect">
            <a:avLst/>
          </a:prstGeom>
          <a:solidFill>
            <a:srgbClr val="10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138928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89981"/>
                </a:solidFill>
                <a:latin typeface="맑은 고딕"/>
              </a:rPr>
              <a:t>쉽게:  </a:t>
            </a:r>
            <a:r>
              <a:rPr sz="1450" b="0">
                <a:solidFill>
                  <a:srgbClr val="FFFFFF"/>
                </a:solidFill>
                <a:latin typeface="맑은 고딕"/>
              </a:rPr>
              <a:t>점2가 찍어둔 반등 저점을 종가가 깨면 점3(전환 확정). 그 전에 신고점이 나오거나 30봉 지나면 셋업 취소.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28016" cy="841248"/>
          </a:xfrm>
          <a:prstGeom prst="rect">
            <a:avLst/>
          </a:prstGeom>
          <a:solidFill>
            <a:srgbClr val="F236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3645"/>
                </a:solidFill>
                <a:latin typeface="맑은 고딕"/>
              </a:rPr>
              <a:t>CODE ·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94944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맑은 고딕"/>
              </a:rPr>
              <a:t>2B 구현 + 신뢰도 필터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5120640" cy="2011680"/>
          </a:xfrm>
          <a:prstGeom prst="rect">
            <a:avLst/>
          </a:prstGeom>
          <a:solidFill>
            <a:srgbClr val="2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10512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D54F"/>
                </a:solidFill>
                <a:latin typeface="맑은 고딕"/>
              </a:rPr>
              <a:t>이론 → 판정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663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</a:rPr>
              <a:t>• 직전 피벗 고점을 '경신'(고가 &gt; 고점)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</a:rPr>
              <a:t>• 이후 그 고점 '아래로 종가 마감' → 2B 후보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</a:rPr>
              <a:t>• 하단 2B는 반대(저점 경신 후 위로 마감)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645920"/>
            <a:ext cx="5212080" cy="2011680"/>
          </a:xfrm>
          <a:prstGeom prst="rect">
            <a:avLst/>
          </a:prstGeom>
          <a:solidFill>
            <a:srgbClr val="0D1018"/>
          </a:solidFill>
          <a:ln w="12700">
            <a:solidFill>
              <a:srgbClr val="4346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755648"/>
            <a:ext cx="4882896" cy="1792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6C6DA"/>
                </a:solidFill>
                <a:latin typeface="Consolas"/>
              </a:rPr>
              <a:t>if high &gt; b2bTop: 경신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6C6DA"/>
                </a:solidFill>
                <a:latin typeface="Consolas"/>
              </a:rPr>
              <a:t>if 경신 and close &lt; b2bTop: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6C6DA"/>
                </a:solidFill>
                <a:latin typeface="Consolas"/>
              </a:rPr>
              <a:t>    → 2B 후보 (필터 검사)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0561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9B3D"/>
                </a:solidFill>
                <a:latin typeface="맑은 고딕"/>
              </a:rPr>
              <a:t>신뢰도 필터 — 3개 모두 통과해야 2B 확정 (신호 남발 방지)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89120"/>
            <a:ext cx="3429000" cy="146304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389120"/>
            <a:ext cx="3429000" cy="91440"/>
          </a:xfrm>
          <a:prstGeom prst="rect">
            <a:avLst/>
          </a:prstGeom>
          <a:solidFill>
            <a:srgbClr val="26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5720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거래량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B2B5BE"/>
                </a:solidFill>
                <a:latin typeface="맑은 고딕"/>
              </a:rPr>
              <a:t>반전 캔들 거래량 ≥ 배수 × SMA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6552" y="4389120"/>
            <a:ext cx="3429000" cy="146304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4389120"/>
            <a:ext cx="3429000" cy="91440"/>
          </a:xfrm>
          <a:prstGeom prst="rect">
            <a:avLst/>
          </a:prstGeom>
          <a:solidFill>
            <a:srgbClr val="089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45720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ATR 거부 꼬리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507492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B2B5BE"/>
                </a:solidFill>
                <a:latin typeface="맑은 고딕"/>
              </a:rPr>
              <a:t>거부 꼬리 길이 ≥ 배수 × ATR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0144" y="4389120"/>
            <a:ext cx="3429000" cy="146304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4389120"/>
            <a:ext cx="3429000" cy="9144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45720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되돌림 신속성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507492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B2B5BE"/>
                </a:solidFill>
                <a:latin typeface="맑은 고딕"/>
              </a:rPr>
              <a:t>경신 → 되돌림이 N봉 이내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28016" cy="841248"/>
          </a:xfrm>
          <a:prstGeom prst="rect">
            <a:avLst/>
          </a:prstGeom>
          <a:solidFill>
            <a:srgbClr val="089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89981"/>
                </a:solidFill>
                <a:latin typeface="맑은 고딕"/>
              </a:rPr>
              <a:t>STRATEGY ·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94944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맑은 고딕"/>
              </a:rPr>
              <a:t>백테스트 전략 +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5212080" cy="283464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55648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89981"/>
                </a:solidFill>
                <a:latin typeface="맑은 고딕"/>
              </a:rPr>
              <a:t>진입 / 청산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94560"/>
            <a:ext cx="47548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089981"/>
                </a:solidFill>
                <a:latin typeface="맑은 고딕"/>
              </a:rPr>
              <a:t>매수: </a:t>
            </a:r>
            <a:r>
              <a:rPr sz="1450" b="0">
                <a:solidFill>
                  <a:srgbClr val="FFFFFF"/>
                </a:solidFill>
                <a:latin typeface="맑은 고딕"/>
              </a:rPr>
              <a:t>하단 점3 또는 상승형 2B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23645"/>
                </a:solidFill>
                <a:latin typeface="맑은 고딕"/>
              </a:rPr>
              <a:t>매도: </a:t>
            </a:r>
            <a:r>
              <a:rPr sz="1450" b="0">
                <a:solidFill>
                  <a:srgbClr val="FFFFFF"/>
                </a:solidFill>
                <a:latin typeface="맑은 고딕"/>
              </a:rPr>
              <a:t>상단 점3 또는 하락형 2B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B2B5BE"/>
                </a:solidFill>
                <a:latin typeface="맑은 고딕"/>
              </a:rPr>
              <a:t>체결: </a:t>
            </a:r>
            <a:r>
              <a:rPr sz="1450" b="0">
                <a:solidFill>
                  <a:srgbClr val="FFFFFF"/>
                </a:solidFill>
                <a:latin typeface="맑은 고딕"/>
              </a:rPr>
              <a:t>신호 봉 마감 → 다음 봉 시가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FD54F"/>
                </a:solidFill>
                <a:latin typeface="맑은 고딕"/>
              </a:rPr>
              <a:t>청산: </a:t>
            </a:r>
            <a:r>
              <a:rPr sz="1450" b="0">
                <a:solidFill>
                  <a:srgbClr val="FFFFFF"/>
                </a:solidFill>
                <a:latin typeface="맑은 고딕"/>
              </a:rPr>
              <a:t>구조적 손절 + ATR 트레일링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      </a:t>
            </a:r>
            <a:r>
              <a:rPr sz="1450" b="0">
                <a:solidFill>
                  <a:srgbClr val="B2B5BE"/>
                </a:solidFill>
                <a:latin typeface="맑은 고딕"/>
              </a:rPr>
              <a:t>(반대 신호 청산 fallback)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600200"/>
            <a:ext cx="5029200" cy="283464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5564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5B8DFF"/>
                </a:solidFill>
                <a:latin typeface="맑은 고딕"/>
              </a:rPr>
              <a:t>튜닝 &amp;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94560"/>
            <a:ext cx="4572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n(민감도) · tol(재시험 허용치)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2B 필터(거래량/꼬리/신속성)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손절·트레일링 ATR 배수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• 기간 제한 → 아웃오브샘플 검증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맑은 고딕"/>
              </a:rPr>
              <a:t>   (과최적화 방지)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617720"/>
            <a:ext cx="10515600" cy="45720"/>
          </a:xfrm>
          <a:prstGeom prst="rect">
            <a:avLst/>
          </a:prstGeom>
          <a:solidFill>
            <a:srgbClr val="089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089981"/>
                </a:solidFill>
                <a:latin typeface="맑은 고딕"/>
              </a:rPr>
              <a:t>요약  </a:t>
            </a:r>
            <a:r>
              <a:rPr sz="1500" b="0">
                <a:solidFill>
                  <a:srgbClr val="FFFFFF"/>
                </a:solidFill>
                <a:latin typeface="맑은 고딕"/>
              </a:rPr>
              <a:t>스페란데오의 1-2-3·2B를 피벗 기반으로 규칙화 → 차트로 확인하고 백테스트로 검증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F23645"/>
                </a:solidFill>
                <a:latin typeface="맑은 고딕"/>
              </a:rPr>
              <a:t>① </a:t>
            </a:r>
            <a:r>
              <a:rPr sz="1500" b="0">
                <a:solidFill>
                  <a:srgbClr val="FFFFFF"/>
                </a:solidFill>
                <a:latin typeface="맑은 고딕"/>
              </a:rPr>
              <a:t>추세선 돌파  </a:t>
            </a:r>
            <a:r>
              <a:rPr sz="1500" b="1">
                <a:solidFill>
                  <a:srgbClr val="FF9B3D"/>
                </a:solidFill>
                <a:latin typeface="맑은 고딕"/>
              </a:rPr>
              <a:t>② </a:t>
            </a:r>
            <a:r>
              <a:rPr sz="1500" b="0">
                <a:solidFill>
                  <a:srgbClr val="FFFFFF"/>
                </a:solidFill>
                <a:latin typeface="맑은 고딕"/>
              </a:rPr>
              <a:t>재시험 실패  </a:t>
            </a:r>
            <a:r>
              <a:rPr sz="1500" b="1">
                <a:solidFill>
                  <a:srgbClr val="FFD54F"/>
                </a:solidFill>
                <a:latin typeface="맑은 고딕"/>
              </a:rPr>
              <a:t>③ </a:t>
            </a:r>
            <a:r>
              <a:rPr sz="1500" b="0">
                <a:solidFill>
                  <a:srgbClr val="FFFFFF"/>
                </a:solidFill>
                <a:latin typeface="맑은 고딕"/>
              </a:rPr>
              <a:t>반등저점 돌파  </a:t>
            </a:r>
            <a:r>
              <a:rPr sz="1500" b="1">
                <a:solidFill>
                  <a:srgbClr val="26C6DA"/>
                </a:solidFill>
                <a:latin typeface="맑은 고딕"/>
              </a:rPr>
              <a:t>+ 2B </a:t>
            </a:r>
            <a:r>
              <a:rPr sz="1500" b="0">
                <a:solidFill>
                  <a:srgbClr val="FFFFFF"/>
                </a:solidFill>
                <a:latin typeface="맑은 고딕"/>
              </a:rPr>
              <a:t>가짜 돌파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