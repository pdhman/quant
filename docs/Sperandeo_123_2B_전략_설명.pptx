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SPERANDEO  ·  TRADER VIC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추세선 · 1-2-3 · 2B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추세전환 매매 전략 — 이론부터 코드 구현까지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56832" y="3822192"/>
            <a:ext cx="4791456" cy="2414016"/>
          </a:xfrm>
          <a:prstGeom prst="rect">
            <a:avLst/>
          </a:prstGeom>
          <a:solidFill>
            <a:srgbClr val="FCFDFE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48203" y="5265041"/>
            <a:ext cx="0" cy="2159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03299" y="5282418"/>
            <a:ext cx="89807" cy="99301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" name="Shape 6"/>
          <p:cNvSpPr/>
          <p:nvPr/>
        </p:nvSpPr>
        <p:spPr>
          <a:xfrm>
            <a:off x="7011489" y="5364342"/>
            <a:ext cx="0" cy="31528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66585" y="5381720"/>
            <a:ext cx="89807" cy="198603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0" name="Shape 8"/>
          <p:cNvSpPr/>
          <p:nvPr/>
        </p:nvSpPr>
        <p:spPr>
          <a:xfrm>
            <a:off x="7174774" y="5562945"/>
            <a:ext cx="0" cy="31528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29871" y="5580323"/>
            <a:ext cx="89807" cy="198603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2" name="Shape 10"/>
          <p:cNvSpPr/>
          <p:nvPr/>
        </p:nvSpPr>
        <p:spPr>
          <a:xfrm>
            <a:off x="7338060" y="5761548"/>
            <a:ext cx="0" cy="265631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3156" y="5778925"/>
            <a:ext cx="89807" cy="14895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7501346" y="5669694"/>
            <a:ext cx="0" cy="27556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6442" y="5729275"/>
            <a:ext cx="89807" cy="198603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6" name="Shape 14"/>
          <p:cNvSpPr/>
          <p:nvPr/>
        </p:nvSpPr>
        <p:spPr>
          <a:xfrm>
            <a:off x="7664631" y="5421440"/>
            <a:ext cx="0" cy="325212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19728" y="5481021"/>
            <a:ext cx="89807" cy="248253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7827917" y="5222838"/>
            <a:ext cx="0" cy="27556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3014" y="5282418"/>
            <a:ext cx="89807" cy="198603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0" name="Shape 18"/>
          <p:cNvSpPr/>
          <p:nvPr/>
        </p:nvSpPr>
        <p:spPr>
          <a:xfrm>
            <a:off x="7991203" y="5265041"/>
            <a:ext cx="0" cy="265631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6299" y="5282418"/>
            <a:ext cx="89807" cy="14895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2" name="Shape 20"/>
          <p:cNvSpPr/>
          <p:nvPr/>
        </p:nvSpPr>
        <p:spPr>
          <a:xfrm>
            <a:off x="8154489" y="5413993"/>
            <a:ext cx="0" cy="265631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9585" y="5431370"/>
            <a:ext cx="89807" cy="14895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4" name="Shape 22"/>
          <p:cNvSpPr/>
          <p:nvPr/>
        </p:nvSpPr>
        <p:spPr>
          <a:xfrm>
            <a:off x="8317774" y="5272488"/>
            <a:ext cx="0" cy="325212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2871" y="5332069"/>
            <a:ext cx="89807" cy="248253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6" name="Shape 24"/>
          <p:cNvSpPr/>
          <p:nvPr/>
        </p:nvSpPr>
        <p:spPr>
          <a:xfrm>
            <a:off x="8481060" y="4974584"/>
            <a:ext cx="0" cy="374863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36156" y="5034165"/>
            <a:ext cx="89807" cy="297904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8" name="Shape 26"/>
          <p:cNvSpPr/>
          <p:nvPr/>
        </p:nvSpPr>
        <p:spPr>
          <a:xfrm>
            <a:off x="8644346" y="4726331"/>
            <a:ext cx="0" cy="325212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9442" y="4785912"/>
            <a:ext cx="89807" cy="248253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0" name="Shape 28"/>
          <p:cNvSpPr/>
          <p:nvPr/>
        </p:nvSpPr>
        <p:spPr>
          <a:xfrm>
            <a:off x="8807631" y="4768534"/>
            <a:ext cx="0" cy="265631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62728" y="4785912"/>
            <a:ext cx="89807" cy="14895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2" name="Shape 30"/>
          <p:cNvSpPr/>
          <p:nvPr/>
        </p:nvSpPr>
        <p:spPr>
          <a:xfrm>
            <a:off x="8970917" y="4917486"/>
            <a:ext cx="0" cy="31528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26014" y="4934864"/>
            <a:ext cx="89807" cy="198603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4" name="Shape 32"/>
          <p:cNvSpPr/>
          <p:nvPr/>
        </p:nvSpPr>
        <p:spPr>
          <a:xfrm>
            <a:off x="9134203" y="4775982"/>
            <a:ext cx="0" cy="374863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9299" y="4835562"/>
            <a:ext cx="89807" cy="297904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6" name="Shape 34"/>
          <p:cNvSpPr/>
          <p:nvPr/>
        </p:nvSpPr>
        <p:spPr>
          <a:xfrm>
            <a:off x="9297489" y="4428427"/>
            <a:ext cx="0" cy="424513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52585" y="4488008"/>
            <a:ext cx="89807" cy="347555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8" name="Shape 36"/>
          <p:cNvSpPr/>
          <p:nvPr/>
        </p:nvSpPr>
        <p:spPr>
          <a:xfrm>
            <a:off x="9460774" y="4470630"/>
            <a:ext cx="0" cy="265631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5871" y="4488008"/>
            <a:ext cx="89807" cy="14895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0" name="Shape 38"/>
          <p:cNvSpPr/>
          <p:nvPr/>
        </p:nvSpPr>
        <p:spPr>
          <a:xfrm>
            <a:off x="9624060" y="4279475"/>
            <a:ext cx="0" cy="374863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79156" y="4339056"/>
            <a:ext cx="89807" cy="297904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2" name="Shape 40"/>
          <p:cNvSpPr/>
          <p:nvPr/>
        </p:nvSpPr>
        <p:spPr>
          <a:xfrm>
            <a:off x="9787346" y="4031221"/>
            <a:ext cx="0" cy="325212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42442" y="4090802"/>
            <a:ext cx="89807" cy="248253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4" name="Shape 42"/>
          <p:cNvSpPr/>
          <p:nvPr/>
        </p:nvSpPr>
        <p:spPr>
          <a:xfrm>
            <a:off x="9950631" y="4073424"/>
            <a:ext cx="0" cy="31528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05728" y="4090802"/>
            <a:ext cx="89807" cy="198603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13917" y="4272027"/>
            <a:ext cx="0" cy="414583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69014" y="4289405"/>
            <a:ext cx="89807" cy="29790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77203" y="4569931"/>
            <a:ext cx="0" cy="414583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32299" y="4587309"/>
            <a:ext cx="89807" cy="29790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0" name="Shape 48"/>
          <p:cNvSpPr/>
          <p:nvPr/>
        </p:nvSpPr>
        <p:spPr>
          <a:xfrm>
            <a:off x="10440489" y="4577379"/>
            <a:ext cx="0" cy="325212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95585" y="4636960"/>
            <a:ext cx="89807" cy="248253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2" name="Shape 50"/>
          <p:cNvSpPr/>
          <p:nvPr/>
        </p:nvSpPr>
        <p:spPr>
          <a:xfrm>
            <a:off x="10603774" y="4279475"/>
            <a:ext cx="0" cy="374863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58871" y="4339056"/>
            <a:ext cx="89807" cy="297904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4" name="Shape 52"/>
          <p:cNvSpPr/>
          <p:nvPr/>
        </p:nvSpPr>
        <p:spPr>
          <a:xfrm>
            <a:off x="10767060" y="4130523"/>
            <a:ext cx="0" cy="22591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22156" y="4190104"/>
            <a:ext cx="89807" cy="148952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30346" y="4172726"/>
            <a:ext cx="0" cy="36493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85442" y="4190104"/>
            <a:ext cx="89807" cy="248253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8" name="Shape 56"/>
          <p:cNvSpPr/>
          <p:nvPr/>
        </p:nvSpPr>
        <p:spPr>
          <a:xfrm>
            <a:off x="11093631" y="4420979"/>
            <a:ext cx="0" cy="464234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48728" y="4438357"/>
            <a:ext cx="89807" cy="347555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0" name="Shape 58"/>
          <p:cNvSpPr/>
          <p:nvPr/>
        </p:nvSpPr>
        <p:spPr>
          <a:xfrm>
            <a:off x="11256917" y="4768534"/>
            <a:ext cx="0" cy="36493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212014" y="4785912"/>
            <a:ext cx="89807" cy="248253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2" name="Shape 60"/>
          <p:cNvSpPr/>
          <p:nvPr/>
        </p:nvSpPr>
        <p:spPr>
          <a:xfrm flipV="1">
            <a:off x="7246620" y="4720373"/>
            <a:ext cx="3161211" cy="1348512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" y="42976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추세선을 긋는 법부터,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1-2-3 추세전환 확정과 2B 가짜 돌파까지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123_v2 인디케이터 + 백테스트 전략으로 구현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자료의 흐름 — 추세선이 모든 것의 출발점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추세선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스페란데오식 추세선 긋는 3원칙.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캔들도 가로지르지 않는 선이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판정의 기준이 된다.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192024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0952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1-2-3 법칙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90872" y="2606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추세선 돌파 → 재시험 실패 →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저점 이탈. 3가지가 모두 충족되면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추세전환이 '확정'된다.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93024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1920240"/>
            <a:ext cx="457200" cy="45720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53144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법칙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13064" y="2606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신고점(신저점)을 살짝 경신한 뒤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되돌아오는 '가짜 돌파' 반전 신호.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스페란데오가 가장 비중을 둔 신호.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463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→ 코드   </a:t>
            </a:r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눈으로 판단하던 재량적 규칙을 피벗(프랙탈) 기반으로 자동화 —  </a:t>
            </a:r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123_v2</a:t>
            </a:r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(인디케이터)  +  </a:t>
            </a:r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123_Strategy</a:t>
            </a:r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(백테스트)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· TRENDLINE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스페란데오의 추세선 — 정확하게 긋는 3원칙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29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739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 내 최저점을 정한다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1762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보고자 하는 기간에서 유의미한 최저점(A)을 먼저 고른다.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447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472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1912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고점 '이전의 저점'과 잇는다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63040" y="359359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최근 고점(C) 이전에 만들어진 저점(B)과 A를 연결한다.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864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64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6085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캔들도 가로지르면 안 된다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63040" y="501091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선이 중간 캔들을 관통하면 무효 — 관통하지 않을 때까지 B를 과거로 거슬러 내려가며 다시 긋는다.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65392" y="1810512"/>
            <a:ext cx="5065776" cy="3511296"/>
          </a:xfrm>
          <a:prstGeom prst="rect">
            <a:avLst/>
          </a:prstGeom>
          <a:solidFill>
            <a:srgbClr val="FCFDFE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2655" y="3919921"/>
            <a:ext cx="0" cy="323971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2511" y="3945988"/>
            <a:ext cx="140288" cy="14895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7724" y="4068873"/>
            <a:ext cx="0" cy="472923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7580" y="4094940"/>
            <a:ext cx="140288" cy="29790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2794" y="4366777"/>
            <a:ext cx="0" cy="472923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2650" y="4392844"/>
            <a:ext cx="140288" cy="29790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6" name="Shape 24"/>
          <p:cNvSpPr/>
          <p:nvPr/>
        </p:nvSpPr>
        <p:spPr>
          <a:xfrm>
            <a:off x="7567863" y="4664681"/>
            <a:ext cx="0" cy="398447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7719" y="4690748"/>
            <a:ext cx="140288" cy="2234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8" name="Shape 26"/>
          <p:cNvSpPr/>
          <p:nvPr/>
        </p:nvSpPr>
        <p:spPr>
          <a:xfrm>
            <a:off x="7822933" y="4526901"/>
            <a:ext cx="0" cy="413342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52789" y="4616272"/>
            <a:ext cx="140288" cy="297904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0" name="Shape 28"/>
          <p:cNvSpPr/>
          <p:nvPr/>
        </p:nvSpPr>
        <p:spPr>
          <a:xfrm>
            <a:off x="8078002" y="4154521"/>
            <a:ext cx="0" cy="487818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7858" y="4243892"/>
            <a:ext cx="140288" cy="37238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2" name="Shape 30"/>
          <p:cNvSpPr/>
          <p:nvPr/>
        </p:nvSpPr>
        <p:spPr>
          <a:xfrm>
            <a:off x="8333072" y="3856616"/>
            <a:ext cx="0" cy="413342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2927" y="3945988"/>
            <a:ext cx="140288" cy="297904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4" name="Shape 32"/>
          <p:cNvSpPr/>
          <p:nvPr/>
        </p:nvSpPr>
        <p:spPr>
          <a:xfrm>
            <a:off x="8588141" y="3919921"/>
            <a:ext cx="0" cy="398447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17997" y="3945988"/>
            <a:ext cx="140288" cy="2234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6" name="Shape 34"/>
          <p:cNvSpPr/>
          <p:nvPr/>
        </p:nvSpPr>
        <p:spPr>
          <a:xfrm>
            <a:off x="8843211" y="4143349"/>
            <a:ext cx="0" cy="398447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3066" y="4169416"/>
            <a:ext cx="140288" cy="2234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8" name="Shape 36"/>
          <p:cNvSpPr/>
          <p:nvPr/>
        </p:nvSpPr>
        <p:spPr>
          <a:xfrm>
            <a:off x="9098280" y="3931092"/>
            <a:ext cx="0" cy="487818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28136" y="4020464"/>
            <a:ext cx="140288" cy="37238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0" name="Shape 38"/>
          <p:cNvSpPr/>
          <p:nvPr/>
        </p:nvSpPr>
        <p:spPr>
          <a:xfrm>
            <a:off x="9353349" y="3484236"/>
            <a:ext cx="0" cy="562294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3205" y="3573608"/>
            <a:ext cx="140288" cy="446856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2" name="Shape 40"/>
          <p:cNvSpPr/>
          <p:nvPr/>
        </p:nvSpPr>
        <p:spPr>
          <a:xfrm>
            <a:off x="9608419" y="3111856"/>
            <a:ext cx="0" cy="487818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38275" y="3201228"/>
            <a:ext cx="140288" cy="37238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4" name="Shape 42"/>
          <p:cNvSpPr/>
          <p:nvPr/>
        </p:nvSpPr>
        <p:spPr>
          <a:xfrm>
            <a:off x="9863488" y="3175161"/>
            <a:ext cx="0" cy="398447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93344" y="3201228"/>
            <a:ext cx="140288" cy="2234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18558" y="3398589"/>
            <a:ext cx="0" cy="472923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48414" y="3424656"/>
            <a:ext cx="140288" cy="29790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8" name="Shape 46"/>
          <p:cNvSpPr/>
          <p:nvPr/>
        </p:nvSpPr>
        <p:spPr>
          <a:xfrm>
            <a:off x="10373627" y="3186332"/>
            <a:ext cx="0" cy="562294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03483" y="3275704"/>
            <a:ext cx="140288" cy="446856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28697" y="2665000"/>
            <a:ext cx="0" cy="636770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58553" y="2754371"/>
            <a:ext cx="140288" cy="521332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2" name="Shape 50"/>
          <p:cNvSpPr/>
          <p:nvPr/>
        </p:nvSpPr>
        <p:spPr>
          <a:xfrm>
            <a:off x="10883766" y="2728305"/>
            <a:ext cx="0" cy="398447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813622" y="2754371"/>
            <a:ext cx="140288" cy="2234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4" name="Shape 52"/>
          <p:cNvSpPr/>
          <p:nvPr/>
        </p:nvSpPr>
        <p:spPr>
          <a:xfrm>
            <a:off x="11138836" y="2441572"/>
            <a:ext cx="0" cy="562294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68692" y="2530943"/>
            <a:ext cx="140288" cy="446856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6" name="Shape 54"/>
          <p:cNvSpPr/>
          <p:nvPr/>
        </p:nvSpPr>
        <p:spPr>
          <a:xfrm>
            <a:off x="11393905" y="2069192"/>
            <a:ext cx="0" cy="487818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323761" y="2158563"/>
            <a:ext cx="140288" cy="37238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8" name="Shape 56"/>
          <p:cNvSpPr/>
          <p:nvPr/>
        </p:nvSpPr>
        <p:spPr>
          <a:xfrm flipV="1">
            <a:off x="7476423" y="3415718"/>
            <a:ext cx="4121538" cy="1709969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7567863" y="3728518"/>
            <a:ext cx="2856778" cy="1334610"/>
          </a:xfrm>
          <a:prstGeom prst="line">
            <a:avLst/>
          </a:prstGeom>
          <a:noFill/>
          <a:ln w="25400">
            <a:solidFill>
              <a:srgbClr val="D64545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7412415" y="51728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1" name="Text 59"/>
          <p:cNvSpPr/>
          <p:nvPr/>
        </p:nvSpPr>
        <p:spPr>
          <a:xfrm>
            <a:off x="7275255" y="5172856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687763" y="465152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3" name="Text 61"/>
          <p:cNvSpPr/>
          <p:nvPr/>
        </p:nvSpPr>
        <p:spPr>
          <a:xfrm>
            <a:off x="8550603" y="4651524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1238457" y="1648568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5" name="Text 63"/>
          <p:cNvSpPr/>
          <p:nvPr/>
        </p:nvSpPr>
        <p:spPr>
          <a:xfrm>
            <a:off x="11101297" y="164856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83680" y="54406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파란 실선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A→B: 캔들을 관통하지 않는 유효한 추세선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빨간 점선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더 가까운 저점과 이으면 중간 캔들을 관통 → 무효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· S&amp;P500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적용 — S&amp;P500 일봉의 상승 추세선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1673352"/>
            <a:ext cx="6711696" cy="4151376"/>
          </a:xfrm>
          <a:prstGeom prst="rect">
            <a:avLst/>
          </a:prstGeom>
          <a:solidFill>
            <a:srgbClr val="FCFDFE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9546" y="4171588"/>
            <a:ext cx="0" cy="386965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6394" y="4202723"/>
            <a:ext cx="146304" cy="177915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" name="Shape 5"/>
          <p:cNvSpPr/>
          <p:nvPr/>
        </p:nvSpPr>
        <p:spPr>
          <a:xfrm>
            <a:off x="1264158" y="4349503"/>
            <a:ext cx="0" cy="5648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006" y="4380638"/>
            <a:ext cx="146304" cy="35583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9" name="Shape 7"/>
          <p:cNvSpPr/>
          <p:nvPr/>
        </p:nvSpPr>
        <p:spPr>
          <a:xfrm>
            <a:off x="1588770" y="4705333"/>
            <a:ext cx="0" cy="5648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15618" y="4736468"/>
            <a:ext cx="146304" cy="35583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" name="Shape 9"/>
          <p:cNvSpPr/>
          <p:nvPr/>
        </p:nvSpPr>
        <p:spPr>
          <a:xfrm>
            <a:off x="1913382" y="5061163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0230" y="5092298"/>
            <a:ext cx="146304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2237994" y="4896591"/>
            <a:ext cx="0" cy="493714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4842" y="5003340"/>
            <a:ext cx="146304" cy="35583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2606" y="4451804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9454" y="4558553"/>
            <a:ext cx="146304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7" name="Shape 15"/>
          <p:cNvSpPr/>
          <p:nvPr/>
        </p:nvSpPr>
        <p:spPr>
          <a:xfrm>
            <a:off x="2887218" y="4095974"/>
            <a:ext cx="0" cy="493714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14066" y="4202723"/>
            <a:ext cx="146304" cy="35583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11830" y="4171588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38678" y="4202723"/>
            <a:ext cx="146304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1" name="Shape 19"/>
          <p:cNvSpPr/>
          <p:nvPr/>
        </p:nvSpPr>
        <p:spPr>
          <a:xfrm>
            <a:off x="3536442" y="4438460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63290" y="4469595"/>
            <a:ext cx="146304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3" name="Shape 21"/>
          <p:cNvSpPr/>
          <p:nvPr/>
        </p:nvSpPr>
        <p:spPr>
          <a:xfrm>
            <a:off x="3861054" y="4184932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7902" y="4291681"/>
            <a:ext cx="146304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5" name="Shape 23"/>
          <p:cNvSpPr/>
          <p:nvPr/>
        </p:nvSpPr>
        <p:spPr>
          <a:xfrm>
            <a:off x="4185666" y="3651187"/>
            <a:ext cx="0" cy="671629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2514" y="3757936"/>
            <a:ext cx="146304" cy="533745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10278" y="3206399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7126" y="3313148"/>
            <a:ext cx="146304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9" name="Shape 27"/>
          <p:cNvSpPr/>
          <p:nvPr/>
        </p:nvSpPr>
        <p:spPr>
          <a:xfrm>
            <a:off x="4834890" y="3282013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61738" y="3313148"/>
            <a:ext cx="146304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1" name="Shape 29"/>
          <p:cNvSpPr/>
          <p:nvPr/>
        </p:nvSpPr>
        <p:spPr>
          <a:xfrm>
            <a:off x="5159502" y="3548886"/>
            <a:ext cx="0" cy="5648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86350" y="3580021"/>
            <a:ext cx="146304" cy="35583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4114" y="3295357"/>
            <a:ext cx="0" cy="671629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10962" y="3402106"/>
            <a:ext cx="146304" cy="533745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5" name="Shape 33"/>
          <p:cNvSpPr/>
          <p:nvPr/>
        </p:nvSpPr>
        <p:spPr>
          <a:xfrm>
            <a:off x="5808726" y="2672655"/>
            <a:ext cx="0" cy="760586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35574" y="2779404"/>
            <a:ext cx="146304" cy="622702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7" name="Shape 35"/>
          <p:cNvSpPr/>
          <p:nvPr/>
        </p:nvSpPr>
        <p:spPr>
          <a:xfrm>
            <a:off x="6133338" y="2748269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60186" y="2779404"/>
            <a:ext cx="146304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9" name="Shape 37"/>
          <p:cNvSpPr/>
          <p:nvPr/>
        </p:nvSpPr>
        <p:spPr>
          <a:xfrm>
            <a:off x="6457950" y="2405782"/>
            <a:ext cx="0" cy="671629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84798" y="2512531"/>
            <a:ext cx="146304" cy="533745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1" name="Shape 39"/>
          <p:cNvSpPr/>
          <p:nvPr/>
        </p:nvSpPr>
        <p:spPr>
          <a:xfrm>
            <a:off x="6782562" y="1960995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09410" y="2067744"/>
            <a:ext cx="146304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3" name="Shape 41"/>
          <p:cNvSpPr/>
          <p:nvPr/>
        </p:nvSpPr>
        <p:spPr>
          <a:xfrm>
            <a:off x="7107174" y="2036609"/>
            <a:ext cx="0" cy="5648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34022" y="2067744"/>
            <a:ext cx="146304" cy="35583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5" name="Shape 43"/>
          <p:cNvSpPr/>
          <p:nvPr/>
        </p:nvSpPr>
        <p:spPr>
          <a:xfrm flipV="1">
            <a:off x="1821942" y="3357627"/>
            <a:ext cx="5772150" cy="2254182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57934" y="5646813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1620774" y="5646813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380994" y="5024111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3243834" y="5024111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27114" y="1540371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1" name="Text 49"/>
          <p:cNvSpPr/>
          <p:nvPr/>
        </p:nvSpPr>
        <p:spPr>
          <a:xfrm>
            <a:off x="6489954" y="1540371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77240" y="58978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개념도 — S&amp;P500 일봉 상황을 단순화한 재구성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635240" y="17830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82128" y="21579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7744968" y="2157984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45820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최저점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8458200" y="22402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하락 전까지 상승추세였다고 보면, 2023년 11월 초의 유의미한 저점이 기준 최저점.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635240" y="31546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82128" y="3529584"/>
            <a:ext cx="420624" cy="420624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0" name="Text 58"/>
          <p:cNvSpPr/>
          <p:nvPr/>
        </p:nvSpPr>
        <p:spPr>
          <a:xfrm>
            <a:off x="7744968" y="3529584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458200" y="3264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최고점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8458200" y="36118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최근에 만들어진 최고점. 추세선은 C '이전'의 저점과 이어야 한다.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635240" y="4526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82128" y="49011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5" name="Text 63"/>
          <p:cNvSpPr/>
          <p:nvPr/>
        </p:nvSpPr>
        <p:spPr>
          <a:xfrm>
            <a:off x="7744968" y="4901184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458200" y="4636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관통하지 않는 저점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8458200" y="49834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이전 저점 중 어떤 일봉도 가로지르지 않으려면 B까지 거슬러 내려와야 한다. A—B를 이으면 스페란데오의 '정확한 추세선' 완성.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635240" y="580644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63840" y="58064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추세선이 1-2-3 판정의 '점1' 기준선이 된다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· 1-2-3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1-2-3 법칙 — 추세전환을 '확정'하는 3단계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1673352"/>
            <a:ext cx="6711696" cy="4151376"/>
          </a:xfrm>
          <a:prstGeom prst="rect">
            <a:avLst/>
          </a:prstGeom>
          <a:solidFill>
            <a:srgbClr val="FCFDFE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3173" y="4171588"/>
            <a:ext cx="0" cy="386965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9410" y="4202723"/>
            <a:ext cx="127526" cy="177915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" name="Shape 5"/>
          <p:cNvSpPr/>
          <p:nvPr/>
        </p:nvSpPr>
        <p:spPr>
          <a:xfrm>
            <a:off x="1125039" y="4349503"/>
            <a:ext cx="0" cy="5648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1275" y="4380638"/>
            <a:ext cx="127526" cy="35583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9" name="Shape 7"/>
          <p:cNvSpPr/>
          <p:nvPr/>
        </p:nvSpPr>
        <p:spPr>
          <a:xfrm>
            <a:off x="1356904" y="4705333"/>
            <a:ext cx="0" cy="5648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3141" y="4736468"/>
            <a:ext cx="127526" cy="35583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" name="Shape 9"/>
          <p:cNvSpPr/>
          <p:nvPr/>
        </p:nvSpPr>
        <p:spPr>
          <a:xfrm>
            <a:off x="1588770" y="5061163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25007" y="5092298"/>
            <a:ext cx="127526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0636" y="4896591"/>
            <a:ext cx="0" cy="493714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6873" y="5003340"/>
            <a:ext cx="127526" cy="35583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2501" y="4451804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88738" y="4558553"/>
            <a:ext cx="127526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4367" y="4095974"/>
            <a:ext cx="0" cy="493714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0604" y="4202723"/>
            <a:ext cx="127526" cy="35583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6233" y="4171588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2470" y="4202723"/>
            <a:ext cx="127526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8099" y="4438460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4336" y="4469595"/>
            <a:ext cx="127526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9964" y="4184932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6201" y="4291681"/>
            <a:ext cx="127526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11830" y="3651187"/>
            <a:ext cx="0" cy="671629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48067" y="3757936"/>
            <a:ext cx="127526" cy="533745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7" name="Shape 25"/>
          <p:cNvSpPr/>
          <p:nvPr/>
        </p:nvSpPr>
        <p:spPr>
          <a:xfrm>
            <a:off x="3443696" y="3206399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79933" y="3313148"/>
            <a:ext cx="127526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9" name="Shape 27"/>
          <p:cNvSpPr/>
          <p:nvPr/>
        </p:nvSpPr>
        <p:spPr>
          <a:xfrm>
            <a:off x="3675561" y="3282013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798" y="3313148"/>
            <a:ext cx="127526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1" name="Shape 29"/>
          <p:cNvSpPr/>
          <p:nvPr/>
        </p:nvSpPr>
        <p:spPr>
          <a:xfrm>
            <a:off x="3907427" y="3548886"/>
            <a:ext cx="0" cy="5648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3664" y="3580021"/>
            <a:ext cx="127526" cy="35583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3" name="Shape 31"/>
          <p:cNvSpPr/>
          <p:nvPr/>
        </p:nvSpPr>
        <p:spPr>
          <a:xfrm>
            <a:off x="4139293" y="3295357"/>
            <a:ext cx="0" cy="671629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75530" y="3402106"/>
            <a:ext cx="127526" cy="533745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5" name="Shape 33"/>
          <p:cNvSpPr/>
          <p:nvPr/>
        </p:nvSpPr>
        <p:spPr>
          <a:xfrm>
            <a:off x="4371159" y="2672655"/>
            <a:ext cx="0" cy="760586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07395" y="2779404"/>
            <a:ext cx="127526" cy="622702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7" name="Shape 35"/>
          <p:cNvSpPr/>
          <p:nvPr/>
        </p:nvSpPr>
        <p:spPr>
          <a:xfrm>
            <a:off x="4603024" y="2748269"/>
            <a:ext cx="0" cy="47592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39261" y="2779404"/>
            <a:ext cx="127526" cy="26687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9" name="Shape 37"/>
          <p:cNvSpPr/>
          <p:nvPr/>
        </p:nvSpPr>
        <p:spPr>
          <a:xfrm>
            <a:off x="4834890" y="2405782"/>
            <a:ext cx="0" cy="671629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1127" y="2512531"/>
            <a:ext cx="127526" cy="533745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1" name="Shape 39"/>
          <p:cNvSpPr/>
          <p:nvPr/>
        </p:nvSpPr>
        <p:spPr>
          <a:xfrm>
            <a:off x="5066756" y="1960995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02993" y="2067744"/>
            <a:ext cx="127526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3" name="Shape 41"/>
          <p:cNvSpPr/>
          <p:nvPr/>
        </p:nvSpPr>
        <p:spPr>
          <a:xfrm>
            <a:off x="5298621" y="2036609"/>
            <a:ext cx="0" cy="5648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34858" y="2067744"/>
            <a:ext cx="127526" cy="35583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5" name="Shape 43"/>
          <p:cNvSpPr/>
          <p:nvPr/>
        </p:nvSpPr>
        <p:spPr>
          <a:xfrm>
            <a:off x="5530487" y="2392439"/>
            <a:ext cx="0" cy="742795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66724" y="2423574"/>
            <a:ext cx="127526" cy="533745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7" name="Shape 45"/>
          <p:cNvSpPr/>
          <p:nvPr/>
        </p:nvSpPr>
        <p:spPr>
          <a:xfrm>
            <a:off x="5762353" y="2926183"/>
            <a:ext cx="0" cy="742795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98590" y="2957319"/>
            <a:ext cx="127526" cy="533745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9" name="Shape 47"/>
          <p:cNvSpPr/>
          <p:nvPr/>
        </p:nvSpPr>
        <p:spPr>
          <a:xfrm>
            <a:off x="5994219" y="2939527"/>
            <a:ext cx="0" cy="582671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30456" y="3046276"/>
            <a:ext cx="127526" cy="444787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1" name="Shape 49"/>
          <p:cNvSpPr/>
          <p:nvPr/>
        </p:nvSpPr>
        <p:spPr>
          <a:xfrm>
            <a:off x="6226084" y="2405782"/>
            <a:ext cx="0" cy="671629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2321" y="2512531"/>
            <a:ext cx="127526" cy="533745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3" name="Shape 51"/>
          <p:cNvSpPr/>
          <p:nvPr/>
        </p:nvSpPr>
        <p:spPr>
          <a:xfrm>
            <a:off x="6457950" y="2138910"/>
            <a:ext cx="0" cy="404756"/>
          </a:xfrm>
          <a:prstGeom prst="line">
            <a:avLst/>
          </a:prstGeom>
          <a:noFill/>
          <a:ln w="12700">
            <a:solidFill>
              <a:srgbClr val="1F8A5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94187" y="2245659"/>
            <a:ext cx="127526" cy="266872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55" name="Shape 53"/>
          <p:cNvSpPr/>
          <p:nvPr/>
        </p:nvSpPr>
        <p:spPr>
          <a:xfrm>
            <a:off x="6689816" y="2214524"/>
            <a:ext cx="0" cy="653837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26053" y="2245659"/>
            <a:ext cx="127526" cy="444787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7" name="Shape 55"/>
          <p:cNvSpPr/>
          <p:nvPr/>
        </p:nvSpPr>
        <p:spPr>
          <a:xfrm>
            <a:off x="6921681" y="2659311"/>
            <a:ext cx="0" cy="831752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7918" y="2690446"/>
            <a:ext cx="127526" cy="62270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9" name="Shape 57"/>
          <p:cNvSpPr/>
          <p:nvPr/>
        </p:nvSpPr>
        <p:spPr>
          <a:xfrm>
            <a:off x="7153547" y="3282013"/>
            <a:ext cx="0" cy="653837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89784" y="3313148"/>
            <a:ext cx="127526" cy="444787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1" name="Shape 59"/>
          <p:cNvSpPr/>
          <p:nvPr/>
        </p:nvSpPr>
        <p:spPr>
          <a:xfrm flipV="1">
            <a:off x="1497330" y="3071184"/>
            <a:ext cx="4682381" cy="2540625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33322" y="5646813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3" name="Text 61"/>
          <p:cNvSpPr/>
          <p:nvPr/>
        </p:nvSpPr>
        <p:spPr>
          <a:xfrm>
            <a:off x="1296162" y="5646813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911308" y="1540371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5" name="Text 63"/>
          <p:cNvSpPr/>
          <p:nvPr/>
        </p:nvSpPr>
        <p:spPr>
          <a:xfrm>
            <a:off x="4774148" y="1540371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606905" y="3778706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7" name="Text 65"/>
          <p:cNvSpPr/>
          <p:nvPr/>
        </p:nvSpPr>
        <p:spPr>
          <a:xfrm>
            <a:off x="5469745" y="3778706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302502" y="1718286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9" name="Text 67"/>
          <p:cNvSpPr/>
          <p:nvPr/>
        </p:nvSpPr>
        <p:spPr>
          <a:xfrm>
            <a:off x="6165342" y="1718286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998099" y="4045579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71" name="Text 69"/>
          <p:cNvSpPr/>
          <p:nvPr/>
        </p:nvSpPr>
        <p:spPr>
          <a:xfrm>
            <a:off x="6860939" y="4045579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488033" y="3668978"/>
            <a:ext cx="198555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777240" y="58978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상승 → 하락 전환 예 (거울상으로 하락 → 상승도 동일)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635240" y="17830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82128" y="2157984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76" name="Text 74"/>
          <p:cNvSpPr/>
          <p:nvPr/>
        </p:nvSpPr>
        <p:spPr>
          <a:xfrm>
            <a:off x="7744968" y="2157984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845820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추세선 하향 돌파</a:t>
            </a:r>
            <a:endParaRPr lang="en-US" sz="1450" dirty="0"/>
          </a:p>
        </p:txBody>
      </p:sp>
      <p:sp>
        <p:nvSpPr>
          <p:cNvPr id="78" name="Text 76"/>
          <p:cNvSpPr/>
          <p:nvPr/>
        </p:nvSpPr>
        <p:spPr>
          <a:xfrm>
            <a:off x="8458200" y="22402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그어 놓은 정확한 추세선을 가격이 아래로 이탈한다.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635240" y="31546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82128" y="3529584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81" name="Text 79"/>
          <p:cNvSpPr/>
          <p:nvPr/>
        </p:nvSpPr>
        <p:spPr>
          <a:xfrm>
            <a:off x="7744968" y="3529584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8458200" y="3264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고점 재시험 실패</a:t>
            </a:r>
            <a:endParaRPr lang="en-US" sz="1450" dirty="0"/>
          </a:p>
        </p:txBody>
      </p:sp>
      <p:sp>
        <p:nvSpPr>
          <p:cNvPr id="83" name="Text 81"/>
          <p:cNvSpPr/>
          <p:nvPr/>
        </p:nvSpPr>
        <p:spPr>
          <a:xfrm>
            <a:off x="8458200" y="36118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반등해 최근 고점(C) 부근까지 오르지만, 최고점을 갱신하지 못하고 다시 하락하기 시작한다.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635240" y="45262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882128" y="4901184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86" name="Text 84"/>
          <p:cNvSpPr/>
          <p:nvPr/>
        </p:nvSpPr>
        <p:spPr>
          <a:xfrm>
            <a:off x="7744968" y="4901184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458200" y="4636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저점 하향 돌파 = 확정</a:t>
            </a:r>
            <a:endParaRPr lang="en-US" sz="1450" dirty="0"/>
          </a:p>
        </p:txBody>
      </p:sp>
      <p:sp>
        <p:nvSpPr>
          <p:cNvPr id="88" name="Text 86"/>
          <p:cNvSpPr/>
          <p:nvPr/>
        </p:nvSpPr>
        <p:spPr>
          <a:xfrm>
            <a:off x="8458200" y="49834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하락하던 가격이 최근 유의미한 저점(점선)을 하향 돌파하면 추세전환 확정.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635240" y="580644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63840" y="58064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충족 = 전환 진행 중  ·  3개 충족 = 전환 완료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· ENTRY STYLE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적용 — 공격적 숏 vs 보수적 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BE9E9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공격적인 숏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점1 — 추세선이 돌파당할 때 숏 진입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점2 — 전고점 C 부근 반등에서 조건 완성을 확인하며 추가 숏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점3 — 전저점 D 부근에서 마지막 숏 (선택사항)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급격한 원웨이 조정에도 일부 물량(점1 진입분)은 수익 가능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좋지 않은 평균 진입단가, 긴 손절선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4592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6F4E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보수적인 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20840" y="2377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점1 돌파 시 — '전환 가능성'만 염두에 두고 관망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점2 — 전고점 C 부근 반등에서 조건 충족을 확인한 뒤 진입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손절은 최고점 바로 위 = 타이트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20840" y="3977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유리한 진입단가 + 타이트한 손절 → 높은 기대 손익비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급격한 원웨이 조정 시 진입 기회를 놓칠 수 있음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292840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40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정답은 없다 — 투자철학에 따른 선택. 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코드에서는 점1·점2·점3·2B 진입을 각각 토글(useP1 / useP2 / useP3 / use2B)로 켜고 끌 수 있어 두 스타일 모두 백테스트로 비교할 수 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· 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법칙 — '가짜 돌파'를 역이용한다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법칙 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상승추세에서 신고점을 만든 뒤 이어가지 못하고 하락해 직전 고점 아래로 되돌아오면 추세가 전환되기 쉽다. 하락추세는 그 반대.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363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가짜 돌파 (False Breakout)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5935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직전 고점을 살짝 '경신'했다가 힘없이 되돌아옴 → 매수세 소진의 신호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0488" y="2971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31363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스탑 헌팅 자리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10528" y="35935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고점 위에 몰린 손절 주문을 털어낸 뒤 반전하는 전형적 위치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36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거울상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51937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2B(상승 반전) = 신저점 경신 후 위로 되돌아 마감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0488" y="4572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4736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10528" y="51937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스페란데오는 다른 어떤 신호보다 2B에 큰 비중을 두었다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전체 구조 — 뿌리는 '피벗(프랙탈)'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4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 = ta.pivothigh(n, n)   // n=5 (민감)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 = ta.pivotlow(n, 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피벗을 3가지로 활용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대각 추세선 — 최근 두 피벗을 이어 점1 판정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피벗 그 자체 — 새 피벗 고/저점으로 점2 판정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수평 레벨 — 기억해 둔 저점/고점으로 점3·2B 판정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상태머신 (topSt / botSt)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368296"/>
            <a:ext cx="420624" cy="42062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68296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1945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778240" y="2953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2461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34198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419856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추세선 돌파 (점1)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778240" y="40050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2976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4714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71416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4297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재시험 실패 (점2)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778240" y="50566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53492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5522976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522976"/>
            <a:ext cx="694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349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저점 돌파 (점3) → 리셋 · 신호 발사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POINT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 1 — 추세선 돌파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F2F4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최근 두 저점(dn1, dn2)으로 상승 지지선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slope_dn = (dn1 - dn2) / (dn1x - dn2x)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y_dn = dn1 + slope_dn * (bar_index - dn1x)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상승 맥락 + 종가가 선 아래로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brk1_top = upCtx and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ta.crossunder(close, y_dn)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brk1_top and topSt ==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topSt :=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mk(bar_index, high, "1")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fireTop1 := true   // 조기진입(옵션)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294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→ 구현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상승 지지선 = 최근 두 피벗 저점을 이은 선 (스페란데오 추세선의 자동화 근사)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종가가 이 선을 하향 돌파하면 점1 — 상태 0 → 1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상승전환(하단)은 거울상: 하락 저항선을 상향 돌파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useP1 토글을 켜면 '공격적 스타일'로 이 시점에 진입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532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 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두 저점을 이은 '상승 지지선'을 종가가 아래로 뚫으면 점1. 여기서 바로 진입하면 공격적 스타일이다.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POINT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 2 — 고점 재시험 실패 (+허용치)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F2F4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 = testTolMult * ATR  // 스프링 허용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topSt == 1 and not na(ph)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ph &lt; topHigh + tol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(bar_index - n) &gt; topStartBar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topSt := 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topLow := dn1  // 점3용 지지 기억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mk(bar_index - n, ph, "2")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fireTop2 := true   // 조기진입(옵션)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294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→ 구현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반등했지만 직전 고점을 못 넘는 새 피벗 고점 = 점2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책의 '근접／닿거나 약간 넘었다 실패'를 tol(ATR 배수)로 구현 — 살짝 침범(스프링)도 인정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점1 이후에 형성된 피벗만 인정 (순서 보장)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useP2 토글 = 보수적 스타일의 '전고점 부근 진입'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532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 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반등이 직전 고점을 못 넘고 꺾이면 점2. '살짝 넘었다 실패'도 tol 범위 안에서는 인정한다.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POINT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 3 — 반등 저점 돌파 → 전환 확정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F2F4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topLowBreak =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ta.crossunder(close, topLow)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topSt == 2 and topLowBreak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mk(bar_index, high, "3")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fireTop3 := true   // 매도 신호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topSt := 0         // 리셋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무효화: high &gt; topHigh + tol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만료: 점1 후 30봉(setupExpireBars) 초과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294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→ 구현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점2가 기억한 반등 저점(topLow)을 종가가 깨면 점3 = 추세전환 확정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발동 후 상태는 0으로 리셋 — 다음 셋업 대기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무효화: 허용치를 넘는 신고점이 나오면 셋업 취소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만료: 셋업이 30봉을 넘기면 자동 취소 (오래된 셋업 방지)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532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 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점2가 찍어둔 반등 저점을 종가가 깨면 점3(전환 확정). 그 전에 신고점이 나오거나 30봉이 지나면 셋업은 취소된다.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구현 + 신뢰도 필터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F2F4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직전 피벗 고점 b2bTop 추적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high &gt; b2bTop        // ① 경신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b2bTopX := true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b2bTopX and close &lt; b2bTop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② 아래로 마감 → 2B 후보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신뢰도 필터 3종 검사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29400" y="17830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직전 피벗 고점을 고가가 '경신'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그 고점 아래로 '종가 마감' → 2B 후보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2B는 거울상 (저점 경신 후 위로 마감)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필터 — 3개 모두 통과해야 2B 확정 (신호 남발 방지)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 확인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반전 캔들 거래량 ≥ 배수 × SMA — 세력의 개입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0832" y="48463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 거부 꼬리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45152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거부 꼬리 길이 ≥ 배수 × ATR — 위꼬리/아래꼬리의 강한 거부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48463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되돌림 신속성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67344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경신 → 되돌림이 N봉 이내 — 늦은 되돌림은 2B가 아님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백테스트 전략 (Reversal 123_Strategy) +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/ 청산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기본: 하단 점3·상승 2B = 매수 / 상단 점3·하락 2B = 매도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조기진입 토글: 점1(공격적)·점2 진입 선택 가능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체결: 신호 봉 마감 → 다음 봉 시가 (룩어헤드 없음)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청산: 구조적 손절 + ATR 트레일링(샹들리에)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TP/SL: 고정 % 또는 ATR 배수(변동성 비례 동적)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튜닝 &amp; 검증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3317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n(피벗 민감도) · tol(재시험 허용치)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필터 3종 (거래량 / 꼬리 / 신속성)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손절·트레일링·TP/SL의 ATR 배수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제한 → 인샘플/아웃오브샘플 분리 검증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과최적화 주의 — 파라미터는 넓은 구간에서 안정적이어야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129284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3492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추세선 → ① 추세선 돌파 ② 재시험 실패 ③ 저점 돌파(확정) + 2B 가짜 돌파.  공격적/보수적 진입은 토글로 선택하고, 백테스트로 검증한다.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2026-07-22T16:41:58Z</dcterms:created>
  <dcterms:modified xsi:type="dcterms:W3CDTF">2026-07-22T16:41:58Z</dcterms:modified>
</cp:coreProperties>
</file>